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79975" cy="42808525"/>
  <p:notesSz cx="6786563" cy="992346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8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8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8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8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8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8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8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8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8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66F5"/>
    <a:srgbClr val="FFFF99"/>
    <a:srgbClr val="000000"/>
    <a:srgbClr val="096EB7"/>
    <a:srgbClr val="1E6DFC"/>
    <a:srgbClr val="D3E6F7"/>
    <a:srgbClr val="97B3DE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9097" autoAdjust="0"/>
  </p:normalViewPr>
  <p:slideViewPr>
    <p:cSldViewPr>
      <p:cViewPr>
        <p:scale>
          <a:sx n="50" d="100"/>
          <a:sy n="50" d="100"/>
        </p:scale>
        <p:origin x="2472" y="-227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7158BA7-B514-4E79-82C1-C06148BAFE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2415" cy="49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0" tIns="45855" rIns="91710" bIns="45855" numCol="1" anchor="t" anchorCtr="0" compatLnSpc="1">
            <a:prstTxWarp prst="textNoShape">
              <a:avLst/>
            </a:prstTxWarp>
          </a:bodyPr>
          <a:lstStyle>
            <a:lvl1pPr defTabSz="917575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247815A-33C3-4DBD-BD25-1D252FC789E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4149" y="1"/>
            <a:ext cx="2940844" cy="49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0" tIns="45855" rIns="91710" bIns="45855" numCol="1" anchor="t" anchorCtr="0" compatLnSpc="1">
            <a:prstTxWarp prst="textNoShape">
              <a:avLst/>
            </a:prstTxWarp>
          </a:bodyPr>
          <a:lstStyle>
            <a:lvl1pPr algn="r" defTabSz="917575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CD95191E-44F6-440C-8AC0-94E22743434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5187"/>
            <a:ext cx="2942415" cy="49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0" tIns="45855" rIns="91710" bIns="45855" numCol="1" anchor="b" anchorCtr="0" compatLnSpc="1">
            <a:prstTxWarp prst="textNoShape">
              <a:avLst/>
            </a:prstTxWarp>
          </a:bodyPr>
          <a:lstStyle>
            <a:lvl1pPr defTabSz="917575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EE1DE79C-6303-4FAB-839F-E69B5F4CDDF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4149" y="9425187"/>
            <a:ext cx="2940844" cy="49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0" tIns="45855" rIns="91710" bIns="45855" numCol="1" anchor="b" anchorCtr="0" compatLnSpc="1">
            <a:prstTxWarp prst="textNoShape">
              <a:avLst/>
            </a:prstTxWarp>
          </a:bodyPr>
          <a:lstStyle>
            <a:lvl1pPr algn="r" defTabSz="917575" eaLnBrk="1" latinLnBrk="1" hangingPunct="1">
              <a:defRPr sz="1200" smtClean="0"/>
            </a:lvl1pPr>
          </a:lstStyle>
          <a:p>
            <a:pPr>
              <a:defRPr/>
            </a:pPr>
            <a:fld id="{A4BA3F81-C3AB-48A6-97E8-1FFE4DB8BE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C9D4C2D-86B2-435B-A722-8FBB1A948C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2415" cy="49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0" tIns="45855" rIns="91710" bIns="45855" numCol="1" anchor="t" anchorCtr="0" compatLnSpc="1">
            <a:prstTxWarp prst="textNoShape">
              <a:avLst/>
            </a:prstTxWarp>
          </a:bodyPr>
          <a:lstStyle>
            <a:lvl1pPr defTabSz="917575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2A88833-8749-4B19-B517-E898D88E610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4149" y="1"/>
            <a:ext cx="2940844" cy="49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0" tIns="45855" rIns="91710" bIns="45855" numCol="1" anchor="t" anchorCtr="0" compatLnSpc="1">
            <a:prstTxWarp prst="textNoShape">
              <a:avLst/>
            </a:prstTxWarp>
          </a:bodyPr>
          <a:lstStyle>
            <a:lvl1pPr algn="r" defTabSz="917575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1703C01-538C-45BB-9929-74C5DA8C067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76450" y="744538"/>
            <a:ext cx="2630488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79DE4B8-46C4-4B62-9F77-F497BB706DA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8657" y="4714211"/>
            <a:ext cx="5429250" cy="4465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0" tIns="45855" rIns="91710" bIns="458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AAEDB9E0-01C9-4F84-B03A-C7DB959C3F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5187"/>
            <a:ext cx="2942415" cy="49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0" tIns="45855" rIns="91710" bIns="45855" numCol="1" anchor="b" anchorCtr="0" compatLnSpc="1">
            <a:prstTxWarp prst="textNoShape">
              <a:avLst/>
            </a:prstTxWarp>
          </a:bodyPr>
          <a:lstStyle>
            <a:lvl1pPr defTabSz="917575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22D8809D-1079-4908-B40C-27D38F91A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4149" y="9425187"/>
            <a:ext cx="2940844" cy="49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0" tIns="45855" rIns="91710" bIns="45855" numCol="1" anchor="b" anchorCtr="0" compatLnSpc="1">
            <a:prstTxWarp prst="textNoShape">
              <a:avLst/>
            </a:prstTxWarp>
          </a:bodyPr>
          <a:lstStyle>
            <a:lvl1pPr algn="r" defTabSz="917575" eaLnBrk="1" latinLnBrk="1" hangingPunct="1">
              <a:defRPr sz="1200" smtClean="0"/>
            </a:lvl1pPr>
          </a:lstStyle>
          <a:p>
            <a:pPr>
              <a:defRPr/>
            </a:pPr>
            <a:fld id="{DED2A1C8-A9F5-4E26-AAAB-B99007B269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8F7BF5-207C-4CDE-BD8C-ECEBCECF67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6AF636B-FBAE-4453-8E09-BEA7CC73C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C8200-6923-4C88-AAD5-5D2E6D376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4600" y="7005638"/>
            <a:ext cx="22710775" cy="149034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F11C91-1E37-4AFA-9520-FDA163D34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600" y="22483763"/>
            <a:ext cx="22710775" cy="103362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BD705A-7B58-4972-AC3B-F5ED834DAF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E609EC-8C73-48B9-9223-1B74EC0AD0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AC54C4-35D7-492A-8F99-6AE9D0B38D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2EEC9-4E93-4484-A57F-922B7BB152C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847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7E2545-8EC0-464E-81ED-7A29FD144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C81E9-52FB-4F80-BE25-C64252009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41EAA0-F510-4D6C-825B-5AEFADDB76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00F028-5823-4861-AFE3-E2EBFF722B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C5979D-4642-4EA1-B37D-6541FA8B52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2A959-62DC-4BDB-818B-ED50A39503A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609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43B19-7819-49B6-BEC9-5F67827E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338" y="10672763"/>
            <a:ext cx="26117550" cy="1780698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FA8B8C-70CB-49EA-A712-A0B4C7381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5338" y="28648025"/>
            <a:ext cx="26117550" cy="93646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09996C-E518-446F-A73B-7360D902E9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CEE47F-AD3E-414D-A62B-3D0DF9608A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0C355A-E8B2-405D-8EE8-CA02D34ED3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FC224-A71A-4275-944A-6C3CE78A4D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2104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2C83A-96A6-4124-BB99-4C23A135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2A143B-9FE0-4D81-B36D-C6482C4AF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4475" y="9988550"/>
            <a:ext cx="13549313" cy="282511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D1B190-D817-4E10-B68C-C95067037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16188" y="9988550"/>
            <a:ext cx="13549312" cy="282511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E6456-8129-4D97-BA7B-DDEE9D01B0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DAB122-75FD-4D7D-9770-1DBD62172C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DBAAE4-47F3-4D05-9BCD-553BF09A2C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F1EB8-932E-4424-B1FB-ADA91C752FD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381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61D9B-5D9E-44D9-938D-3ABC6FED9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2279650"/>
            <a:ext cx="26115963" cy="82740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A0AC88-BA23-4C89-874B-E6B5E8CEB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975" y="10493375"/>
            <a:ext cx="12809538" cy="51435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EF11B6-DA7A-4679-B2C3-6A24349A1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5975" y="15636875"/>
            <a:ext cx="12809538" cy="229997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BAD6F6-5BF7-4D2D-91C5-5B82AE7D1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328900" y="10493375"/>
            <a:ext cx="12873038" cy="51435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9EC816-3DF5-4D5F-9DD1-731665E99A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328900" y="15636875"/>
            <a:ext cx="12873038" cy="229997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934AF15-7C4D-484F-8288-802CCEE493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6334F80-9408-4C0A-A242-89C88730F8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F736B01-DD55-453A-9383-DC17B23304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F8416A-C1C4-459C-A3D2-C7953A52B7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5273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03DB9-1FF5-4F4F-975D-913852626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4BA85DD-9EFB-416B-BEE6-8946D696D9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CA23E4-1ECF-46CA-B997-2B424BEBA1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9DD1A20-0F10-4976-8900-5234772071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70CAA-CD16-4A80-9E8E-E9959066AA0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761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F3CF7A0-977F-4DC3-95C8-47CCC71C36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161E031-3889-46CC-B992-A645BF0426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220C805-2CE6-4ADA-9A8B-F1168F0C55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319EA5-DDEB-47E2-88E0-94171F4D2E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103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B5DF21-BB3B-4914-8C49-25E87FB57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2854325"/>
            <a:ext cx="9766300" cy="9988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C594CC-2B6E-45B4-9A07-5E35D40B6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3038" y="6164263"/>
            <a:ext cx="15328900" cy="30421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E7DC91-001F-4D15-BC6A-23D984194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975" y="12842875"/>
            <a:ext cx="9766300" cy="23791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0FA751-51AE-4519-B3AB-9312DD27AC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F2F185-6D6B-4A03-BA37-32C5810B85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5DE2BE-4FE3-4933-8462-84440B047D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4E547-F1F8-44A1-B7DA-723485156D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282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05FFE-1D6B-41B6-9A87-8985A6AF7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2854325"/>
            <a:ext cx="9766300" cy="9988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62B659-936F-4470-AA3D-5EB88A0CB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3038" y="6164263"/>
            <a:ext cx="15328900" cy="304212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554829-724B-4520-8D21-FE8C5A0D4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975" y="12842875"/>
            <a:ext cx="9766300" cy="23791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5D69F3-E8C9-4E94-BBF3-54CE77D85F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BDA3AB-6A3D-4F6A-ADF0-8E4228DD41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EC6CD-5D2E-4782-962D-F39B39FD56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17D59F-36CF-4FA8-BC49-7A8F7344DD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1907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FBA37-87D9-4024-841D-4717776A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B4A21E-D368-477E-A2B3-369A7416B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51DC10-25E5-474F-80ED-0425B93C78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18BD29-DD27-49CC-9896-5B7E938314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C277CC-BE49-4D21-9B06-B115ECA2C9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7125D-5599-474E-9DDA-A5C73ADE78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519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8DBEBB-D8F5-4A86-A929-6DA5FDB73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1953538" y="1714500"/>
            <a:ext cx="6811962" cy="36525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DBFB20-1860-4A8F-8324-93A2D1A29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4475" y="1714500"/>
            <a:ext cx="20286663" cy="36525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13C285-AFEE-4210-90B7-CB97B93CE2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1E55D6-8338-4CC3-950F-29DA2ACE8D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C7E9D5-7248-475A-9E12-B2F84959FD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035CC-B167-4C6D-9634-969300D2E9E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907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54EA631-FE59-4B5E-B247-9D5496E7E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14475" y="1714500"/>
            <a:ext cx="27251025" cy="713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CABB8B3-F887-4187-A2EE-A3FA0AA16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14475" y="9988550"/>
            <a:ext cx="27251025" cy="282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1D030A-7304-4661-91C8-7806EBD616E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t" anchorCtr="0" compatLnSpc="1">
            <a:prstTxWarp prst="textNoShape">
              <a:avLst/>
            </a:prstTxWarp>
          </a:bodyPr>
          <a:lstStyle>
            <a:lvl1pPr defTabSz="4176713" eaLnBrk="1" latinLnBrk="1" hangingPunct="1">
              <a:defRPr sz="6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DD85CC4-7EC0-4E7B-827A-3F78F3ADF1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t" anchorCtr="0" compatLnSpc="1">
            <a:prstTxWarp prst="textNoShape">
              <a:avLst/>
            </a:prstTxWarp>
          </a:bodyPr>
          <a:lstStyle>
            <a:lvl1pPr algn="ctr" defTabSz="4176713" eaLnBrk="1" latinLnBrk="1" hangingPunct="1">
              <a:defRPr sz="6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EDE024C-F41C-45F2-8EAC-A27436A29B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t" anchorCtr="0" compatLnSpc="1">
            <a:prstTxWarp prst="textNoShape">
              <a:avLst/>
            </a:prstTxWarp>
          </a:bodyPr>
          <a:lstStyle>
            <a:lvl1pPr algn="r" defTabSz="4176713" eaLnBrk="1" latinLnBrk="1" hangingPunct="1">
              <a:defRPr sz="6400" smtClean="0"/>
            </a:lvl1pPr>
          </a:lstStyle>
          <a:p>
            <a:pPr>
              <a:defRPr/>
            </a:pPr>
            <a:fld id="{894991DE-0B3E-4C26-B84B-23795DDD289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76713" rtl="0" eaLnBrk="0" fontAlgn="base" latinLnBrk="1" hangingPunct="0">
        <a:spcBef>
          <a:spcPct val="0"/>
        </a:spcBef>
        <a:spcAft>
          <a:spcPct val="0"/>
        </a:spcAft>
        <a:defRPr kumimoji="1" sz="201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176713" rtl="0" eaLnBrk="0" fontAlgn="base" latinLnBrk="1" hangingPunct="0">
        <a:spcBef>
          <a:spcPct val="0"/>
        </a:spcBef>
        <a:spcAft>
          <a:spcPct val="0"/>
        </a:spcAft>
        <a:defRPr kumimoji="1" sz="201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defTabSz="4176713" rtl="0" eaLnBrk="0" fontAlgn="base" latinLnBrk="1" hangingPunct="0">
        <a:spcBef>
          <a:spcPct val="0"/>
        </a:spcBef>
        <a:spcAft>
          <a:spcPct val="0"/>
        </a:spcAft>
        <a:defRPr kumimoji="1" sz="201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defTabSz="4176713" rtl="0" eaLnBrk="0" fontAlgn="base" latinLnBrk="1" hangingPunct="0">
        <a:spcBef>
          <a:spcPct val="0"/>
        </a:spcBef>
        <a:spcAft>
          <a:spcPct val="0"/>
        </a:spcAft>
        <a:defRPr kumimoji="1" sz="201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defTabSz="4176713" rtl="0" eaLnBrk="0" fontAlgn="base" latinLnBrk="1" hangingPunct="0">
        <a:spcBef>
          <a:spcPct val="0"/>
        </a:spcBef>
        <a:spcAft>
          <a:spcPct val="0"/>
        </a:spcAft>
        <a:defRPr kumimoji="1" sz="201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defTabSz="4176713" rtl="0" fontAlgn="base" latinLnBrk="1">
        <a:spcBef>
          <a:spcPct val="0"/>
        </a:spcBef>
        <a:spcAft>
          <a:spcPct val="0"/>
        </a:spcAft>
        <a:defRPr kumimoji="1" sz="201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defTabSz="4176713" rtl="0" fontAlgn="base" latinLnBrk="1">
        <a:spcBef>
          <a:spcPct val="0"/>
        </a:spcBef>
        <a:spcAft>
          <a:spcPct val="0"/>
        </a:spcAft>
        <a:defRPr kumimoji="1" sz="201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defTabSz="4176713" rtl="0" fontAlgn="base" latinLnBrk="1">
        <a:spcBef>
          <a:spcPct val="0"/>
        </a:spcBef>
        <a:spcAft>
          <a:spcPct val="0"/>
        </a:spcAft>
        <a:defRPr kumimoji="1" sz="201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defTabSz="4176713" rtl="0" fontAlgn="base" latinLnBrk="1">
        <a:spcBef>
          <a:spcPct val="0"/>
        </a:spcBef>
        <a:spcAft>
          <a:spcPct val="0"/>
        </a:spcAft>
        <a:defRPr kumimoji="1" sz="201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1566863" indent="-1566863" algn="l" defTabSz="41767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394075" indent="-1306513" algn="l" defTabSz="41767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21288" indent="-1044575" algn="l" defTabSz="41767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08850" indent="-1044575" algn="l" defTabSz="41767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9396413" indent="-1042988" algn="l" defTabSz="41767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275">
            <a:extLst>
              <a:ext uri="{FF2B5EF4-FFF2-40B4-BE49-F238E27FC236}">
                <a16:creationId xmlns:a16="http://schemas.microsoft.com/office/drawing/2014/main" id="{2706AD17-418F-4617-904B-015D71DB2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8" y="522288"/>
            <a:ext cx="28803600" cy="37798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/>
        </p:spPr>
        <p:txBody>
          <a:bodyPr anchor="ctr"/>
          <a:lstStyle>
            <a:lvl1pPr defTabSz="4176713" latinLnBrk="1">
              <a:spcBef>
                <a:spcPct val="20000"/>
              </a:spcBef>
              <a:buChar char="•"/>
              <a:defRPr kumimoji="1" sz="14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394075" indent="-1306513" defTabSz="4176713" latinLnBrk="1">
              <a:spcBef>
                <a:spcPct val="20000"/>
              </a:spcBef>
              <a:buChar char="–"/>
              <a:defRPr kumimoji="1" sz="1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5221288" indent="-1044575" defTabSz="4176713" latinLnBrk="1">
              <a:spcBef>
                <a:spcPct val="20000"/>
              </a:spcBef>
              <a:buChar char="•"/>
              <a:defRPr kumimoji="1" sz="1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7308850" indent="-1044575" defTabSz="4176713" latinLnBrk="1">
              <a:spcBef>
                <a:spcPct val="20000"/>
              </a:spcBef>
              <a:buChar char="–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9396413" indent="-1042988" defTabSz="4176713" latinLnBrk="1">
              <a:spcBef>
                <a:spcPct val="20000"/>
              </a:spcBef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98536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103108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07680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12252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7200" b="1" kern="0" dirty="0">
                <a:solidFill>
                  <a:srgbClr val="FFFF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부산 도시철도 수요 및 혼잡도 예측을 위한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7200" b="1" kern="0" dirty="0">
                <a:solidFill>
                  <a:srgbClr val="FFFF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딥러닝 기반 XAI 모델 개발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40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오예진</a:t>
            </a:r>
            <a:r>
              <a:rPr lang="ko-KR" altLang="en-US" sz="40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sz="40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· 강고은</a:t>
            </a:r>
            <a:r>
              <a:rPr lang="ko-KR" altLang="en-US" sz="40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sz="40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· 김희영</a:t>
            </a:r>
            <a:r>
              <a:rPr lang="ko-KR" altLang="en-US" sz="40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sz="40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· 이재서</a:t>
            </a:r>
            <a:r>
              <a:rPr lang="ko-KR" altLang="en-US" sz="40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r>
              <a:rPr lang="ko-KR" altLang="en-US" sz="40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· 정재훈</a:t>
            </a:r>
            <a:r>
              <a:rPr lang="ko-KR" altLang="en-US" sz="40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r>
              <a:rPr lang="ko-KR" altLang="en-US" sz="40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· 김지훈</a:t>
            </a:r>
            <a:r>
              <a:rPr lang="ko-KR" altLang="en-US" sz="40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r>
              <a:rPr lang="ko-KR" altLang="en-US" sz="40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· Vu Tuan Anh</a:t>
            </a:r>
            <a:r>
              <a:rPr lang="ko-KR" altLang="en-US" sz="40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r>
              <a:rPr lang="ko-KR" altLang="en-US" sz="40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· 하일도</a:t>
            </a:r>
            <a:r>
              <a:rPr lang="ko-KR" altLang="en-US" sz="40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3,4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28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lang="ko-KR" altLang="en-US" sz="28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sz="28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부경대학교 컴퓨터인공지능공학부, </a:t>
            </a:r>
            <a:r>
              <a:rPr lang="ko-KR" altLang="en-US" sz="28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r>
              <a:rPr lang="ko-KR" altLang="en-US" sz="28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부경대학교 통계데이터사이언스전공, </a:t>
            </a:r>
            <a:r>
              <a:rPr lang="ko-KR" altLang="en-US" sz="28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r>
              <a:rPr lang="ko-KR" altLang="en-US" sz="28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부경대학교 통계데이터사이언스학과, </a:t>
            </a:r>
            <a:r>
              <a:rPr lang="ko-KR" altLang="en-US" sz="2800" b="1" kern="0" baseline="300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r>
              <a:rPr lang="ko-KR" altLang="en-US" sz="2800" b="1" kern="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부경대학교 인공지능융합학과)</a:t>
            </a:r>
          </a:p>
        </p:txBody>
      </p:sp>
      <p:cxnSp>
        <p:nvCxnSpPr>
          <p:cNvPr id="4103" name="AutoShape 1279">
            <a:extLst>
              <a:ext uri="{FF2B5EF4-FFF2-40B4-BE49-F238E27FC236}">
                <a16:creationId xmlns:a16="http://schemas.microsoft.com/office/drawing/2014/main" id="{BB4C0DC2-B8DE-485B-AAA8-6CE84A3ACB6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5139987" y="4302077"/>
            <a:ext cx="0" cy="38165136"/>
          </a:xfrm>
          <a:prstGeom prst="straightConnector1">
            <a:avLst/>
          </a:prstGeom>
          <a:noFill/>
          <a:ln w="9525">
            <a:solidFill>
              <a:srgbClr val="97B3D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05" name="Rectangle 1386">
            <a:extLst>
              <a:ext uri="{FF2B5EF4-FFF2-40B4-BE49-F238E27FC236}">
                <a16:creationId xmlns:a16="http://schemas.microsoft.com/office/drawing/2014/main" id="{D4BA6EDB-375F-4134-BF6A-08B5F1424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8" y="42467213"/>
            <a:ext cx="28803600" cy="360362"/>
          </a:xfrm>
          <a:prstGeom prst="rect">
            <a:avLst/>
          </a:prstGeom>
          <a:solidFill>
            <a:srgbClr val="096EB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4176713" latinLnBrk="1">
              <a:spcBef>
                <a:spcPct val="20000"/>
              </a:spcBef>
              <a:buChar char="•"/>
              <a:defRPr kumimoji="1" sz="14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394075" indent="-1306513" defTabSz="4176713" latinLnBrk="1">
              <a:spcBef>
                <a:spcPct val="20000"/>
              </a:spcBef>
              <a:buChar char="–"/>
              <a:defRPr kumimoji="1" sz="1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5221288" indent="-1044575" defTabSz="4176713" latinLnBrk="1">
              <a:spcBef>
                <a:spcPct val="20000"/>
              </a:spcBef>
              <a:buChar char="•"/>
              <a:defRPr kumimoji="1" sz="1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7308850" indent="-1044575" defTabSz="4176713" latinLnBrk="1">
              <a:spcBef>
                <a:spcPct val="20000"/>
              </a:spcBef>
              <a:buChar char="–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9396413" indent="-1042988" defTabSz="4176713" latinLnBrk="1">
              <a:spcBef>
                <a:spcPct val="20000"/>
              </a:spcBef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98536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103108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07680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12252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ko-KR" altLang="ko-KR" sz="3600" b="1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4107" name="Rectangle 1418">
            <a:extLst>
              <a:ext uri="{FF2B5EF4-FFF2-40B4-BE49-F238E27FC236}">
                <a16:creationId xmlns:a16="http://schemas.microsoft.com/office/drawing/2014/main" id="{CFF24926-AEF8-4330-9DA1-40009DC8D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108" name="Rectangle 1420">
            <a:extLst>
              <a:ext uri="{FF2B5EF4-FFF2-40B4-BE49-F238E27FC236}">
                <a16:creationId xmlns:a16="http://schemas.microsoft.com/office/drawing/2014/main" id="{7D1EAE4F-4558-42D5-A7CE-7FC21E7A3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3027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109" name="Rectangle 1422">
            <a:extLst>
              <a:ext uri="{FF2B5EF4-FFF2-40B4-BE49-F238E27FC236}">
                <a16:creationId xmlns:a16="http://schemas.microsoft.com/office/drawing/2014/main" id="{E974B7D1-C4C0-4E5A-8C44-EAA106A1D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3027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110" name="Rectangle 1424">
            <a:extLst>
              <a:ext uri="{FF2B5EF4-FFF2-40B4-BE49-F238E27FC236}">
                <a16:creationId xmlns:a16="http://schemas.microsoft.com/office/drawing/2014/main" id="{304355B7-1169-490D-B1DB-DC4B236E0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3027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111" name="Rectangle 1426">
            <a:extLst>
              <a:ext uri="{FF2B5EF4-FFF2-40B4-BE49-F238E27FC236}">
                <a16:creationId xmlns:a16="http://schemas.microsoft.com/office/drawing/2014/main" id="{90729AB8-E186-4C65-9E7F-414EC36BB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3027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112" name="Rectangle 1428">
            <a:extLst>
              <a:ext uri="{FF2B5EF4-FFF2-40B4-BE49-F238E27FC236}">
                <a16:creationId xmlns:a16="http://schemas.microsoft.com/office/drawing/2014/main" id="{16376344-E733-496F-869A-BC0049F72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001" name="Rectangle 1280">
            <a:extLst>
              <a:ext uri="{FF2B5EF4-FFF2-40B4-BE49-F238E27FC236}">
                <a16:creationId xmlns:a16="http://schemas.microsoft.com/office/drawing/2014/main" id="{51254F07-666A-4E9E-9412-F7EB30C8D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47" y="4407505"/>
            <a:ext cx="14287682" cy="10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/>
        </p:spPr>
        <p:txBody>
          <a:bodyPr wrap="none" anchor="ctr"/>
          <a:lstStyle>
            <a:lvl1pPr defTabSz="4176713" latinLnBrk="1">
              <a:spcBef>
                <a:spcPct val="20000"/>
              </a:spcBef>
              <a:buChar char="•"/>
              <a:defRPr kumimoji="1" sz="14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394075" indent="-1306513" defTabSz="4176713" latinLnBrk="1">
              <a:spcBef>
                <a:spcPct val="20000"/>
              </a:spcBef>
              <a:buChar char="–"/>
              <a:defRPr kumimoji="1" sz="1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5221288" indent="-1044575" defTabSz="4176713" latinLnBrk="1">
              <a:spcBef>
                <a:spcPct val="20000"/>
              </a:spcBef>
              <a:buChar char="•"/>
              <a:defRPr kumimoji="1" sz="1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7308850" indent="-1044575" defTabSz="4176713" latinLnBrk="1">
              <a:spcBef>
                <a:spcPct val="20000"/>
              </a:spcBef>
              <a:buChar char="–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9396413" indent="-1042988" defTabSz="4176713" latinLnBrk="1">
              <a:spcBef>
                <a:spcPct val="20000"/>
              </a:spcBef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98536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103108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07680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12252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5000" b="1" dirty="0">
                <a:solidFill>
                  <a:schemeClr val="bg1"/>
                </a:solidFill>
                <a:latin typeface="Times New Roman" panose="02020603050405020304" pitchFamily="18" charset="0"/>
                <a:ea typeface="돋움" panose="020B0600000101010101" pitchFamily="50" charset="-127"/>
                <a:cs typeface="Times New Roman" panose="02020603050405020304" pitchFamily="18" charset="0"/>
              </a:rPr>
              <a:t> 연구 목적</a:t>
            </a:r>
          </a:p>
        </p:txBody>
      </p:sp>
      <p:sp>
        <p:nvSpPr>
          <p:cNvPr id="5002" name="TextBox 5001"/>
          <p:cNvSpPr txBox="1"/>
          <p:nvPr/>
        </p:nvSpPr>
        <p:spPr>
          <a:xfrm>
            <a:off x="847875" y="5670385"/>
            <a:ext cx="14068226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도시철도 수요는 요일, 공휴일 및 장기적인 이용 패턴 변화에 따라 복잡하게 변동하여 기존 통계적 시계열 모형만으로는 충분히 설명하기 어려움</a:t>
            </a: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부산 도시철도 1–4호선의 일별 승차수요 예측을 위해 LSTM과 심층신경망 (deep neural network; DNN)을 결합한 </a:t>
            </a:r>
            <a:r>
              <a:rPr lang="ko-KR" altLang="en-US" sz="2600" b="1" i="0">
                <a:latin typeface="Times New Roman"/>
                <a:ea typeface="돋움"/>
                <a:cs typeface="Times New Roman"/>
              </a:rPr>
              <a:t>LSTM-DNN 모형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을 제안하고, 설명가능한 인공지능 (explainable artificial intelligence; XAI)으로 주요 예측요인을 분석함</a:t>
            </a: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승객 수와 열차 수송정원을 이용한 혼잡도 지표를 산출하고, </a:t>
            </a:r>
            <a:r>
              <a:rPr lang="ko-KR" altLang="en-US" sz="2600" b="1" i="0">
                <a:latin typeface="Times New Roman"/>
                <a:ea typeface="돋움"/>
                <a:cs typeface="Times New Roman"/>
              </a:rPr>
              <a:t>CNN-LSTM 모형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으로 호선별 일별 혼잡도를 예측함</a:t>
            </a:r>
          </a:p>
        </p:txBody>
      </p:sp>
      <p:sp>
        <p:nvSpPr>
          <p:cNvPr id="2" name="Rectangle 1280">
            <a:extLst>
              <a:ext uri="{FF2B5EF4-FFF2-40B4-BE49-F238E27FC236}">
                <a16:creationId xmlns:a16="http://schemas.microsoft.com/office/drawing/2014/main" id="{51254F07-666A-4E9E-9412-F7EB30C8D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47" y="8870785"/>
            <a:ext cx="14287682" cy="10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/>
        </p:spPr>
        <p:txBody>
          <a:bodyPr wrap="none" anchor="ctr"/>
          <a:lstStyle>
            <a:lvl1pPr defTabSz="4176713" latinLnBrk="1">
              <a:spcBef>
                <a:spcPct val="20000"/>
              </a:spcBef>
              <a:buChar char="•"/>
              <a:defRPr kumimoji="1" sz="14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394075" indent="-1306513" defTabSz="4176713" latinLnBrk="1">
              <a:spcBef>
                <a:spcPct val="20000"/>
              </a:spcBef>
              <a:buChar char="–"/>
              <a:defRPr kumimoji="1" sz="1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5221288" indent="-1044575" defTabSz="4176713" latinLnBrk="1">
              <a:spcBef>
                <a:spcPct val="20000"/>
              </a:spcBef>
              <a:buChar char="•"/>
              <a:defRPr kumimoji="1" sz="1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7308850" indent="-1044575" defTabSz="4176713" latinLnBrk="1">
              <a:spcBef>
                <a:spcPct val="20000"/>
              </a:spcBef>
              <a:buChar char="–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9396413" indent="-1042988" defTabSz="4176713" latinLnBrk="1">
              <a:spcBef>
                <a:spcPct val="20000"/>
              </a:spcBef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98536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103108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07680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12252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5000" b="1" dirty="0">
                <a:solidFill>
                  <a:schemeClr val="bg1"/>
                </a:solidFill>
                <a:latin typeface="Times New Roman" panose="02020603050405020304" pitchFamily="18" charset="0"/>
                <a:ea typeface="돋움" panose="020B0600000101010101" pitchFamily="50" charset="-127"/>
                <a:cs typeface="Times New Roman" panose="02020603050405020304" pitchFamily="18" charset="0"/>
              </a:rPr>
              <a:t> Ⅰ. 승차인원 예측</a:t>
            </a:r>
          </a:p>
        </p:txBody>
      </p:sp>
      <p:sp>
        <p:nvSpPr>
          <p:cNvPr id="5003" name="TextBox 5002"/>
          <p:cNvSpPr txBox="1"/>
          <p:nvPr/>
        </p:nvSpPr>
        <p:spPr>
          <a:xfrm>
            <a:off x="847875" y="10133665"/>
            <a:ext cx="14068226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예측 대상 (target): 전년도 동일 날짜 대비 로그 증감량</a:t>
            </a:r>
          </a:p>
        </p:txBody>
      </p:sp>
      <p:sp>
        <p:nvSpPr>
          <p:cNvPr id="5004" name="TextBox 5003"/>
          <p:cNvSpPr txBox="1"/>
          <p:nvPr/>
        </p:nvSpPr>
        <p:spPr>
          <a:xfrm>
            <a:off x="847875" y="10686115"/>
            <a:ext cx="14068226" cy="792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장기 예측의 오차 누적을 줄이기 위해 승차인원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Y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(t) 대신 로그 증감량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g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(t)를 예측한 후 전년도 동일 날짜 승차량에 결합하여 수요를 복원함</a:t>
            </a:r>
          </a:p>
        </p:txBody>
      </p:sp>
      <p:sp>
        <p:nvSpPr>
          <p:cNvPr id="5005" name="Rectangle 5004"/>
          <p:cNvSpPr/>
          <p:nvPr/>
        </p:nvSpPr>
        <p:spPr>
          <a:xfrm>
            <a:off x="1396515" y="11588323"/>
            <a:ext cx="12970946" cy="1188720"/>
          </a:xfrm>
          <a:prstGeom prst="rect">
            <a:avLst/>
          </a:prstGeom>
          <a:solidFill>
            <a:srgbClr val="F4F4FB"/>
          </a:solidFill>
          <a:ln w="190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8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g</a:t>
            </a:r>
            <a:r>
              <a:rPr lang="ko-KR" altLang="en-US" sz="28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(t) = log(1 + </a:t>
            </a:r>
            <a:r>
              <a:rPr lang="ko-KR" altLang="en-US" sz="28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Y</a:t>
            </a:r>
            <a:r>
              <a:rPr lang="ko-KR" altLang="en-US" sz="28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(t)) − log(1 + </a:t>
            </a:r>
            <a:r>
              <a:rPr lang="ko-KR" altLang="en-US" sz="28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Y</a:t>
            </a:r>
            <a:r>
              <a:rPr lang="ko-KR" altLang="en-US" sz="28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(t − 1년))</a:t>
            </a:r>
          </a:p>
          <a:p>
            <a:pPr algn="ctr">
              <a:spcBef>
                <a:spcPts val="800"/>
              </a:spcBef>
            </a:pPr>
            <a:r>
              <a:rPr lang="ko-KR" altLang="en-US" sz="28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Ŷ</a:t>
            </a:r>
            <a:r>
              <a:rPr lang="ko-KR" altLang="en-US" sz="28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(t) = exp{ log(1 + </a:t>
            </a:r>
            <a:r>
              <a:rPr lang="ko-KR" altLang="en-US" sz="28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Y</a:t>
            </a:r>
            <a:r>
              <a:rPr lang="ko-KR" altLang="en-US" sz="28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(t − 1년)) + </a:t>
            </a:r>
            <a:r>
              <a:rPr lang="ko-KR" altLang="en-US" sz="28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ĝ</a:t>
            </a:r>
            <a:r>
              <a:rPr lang="ko-KR" altLang="en-US" sz="28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(t) } − 1</a:t>
            </a:r>
          </a:p>
        </p:txBody>
      </p:sp>
      <p:sp>
        <p:nvSpPr>
          <p:cNvPr id="5006" name="TextBox 5005"/>
          <p:cNvSpPr txBox="1"/>
          <p:nvPr/>
        </p:nvSpPr>
        <p:spPr>
          <a:xfrm>
            <a:off x="847875" y="12886771"/>
            <a:ext cx="1406822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-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Y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(t) : 날짜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t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의 일별 승차인원, 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t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 − 1년 : 전년도 같은 날짜, 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ĝ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(t) : 모형 출력을 역표준화한 로그 증감량 예측값 (모든 식은 호선별로 적용)</a:t>
            </a:r>
          </a:p>
        </p:txBody>
      </p:sp>
      <p:sp>
        <p:nvSpPr>
          <p:cNvPr id="5007" name="TextBox 5006"/>
          <p:cNvSpPr txBox="1"/>
          <p:nvPr/>
        </p:nvSpPr>
        <p:spPr>
          <a:xfrm>
            <a:off x="847875" y="13938331"/>
            <a:ext cx="14068226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모형 구조: LSTM-DNN</a:t>
            </a:r>
          </a:p>
        </p:txBody>
      </p:sp>
      <p:pic>
        <p:nvPicPr>
          <p:cNvPr id="5008" name="Picture 5007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635" y="14582221"/>
            <a:ext cx="13336706" cy="3353120"/>
          </a:xfrm>
          <a:prstGeom prst="rect">
            <a:avLst/>
          </a:prstGeom>
        </p:spPr>
      </p:pic>
      <p:sp>
        <p:nvSpPr>
          <p:cNvPr id="5009" name="TextBox 5008"/>
          <p:cNvSpPr txBox="1"/>
          <p:nvPr/>
        </p:nvSpPr>
        <p:spPr>
          <a:xfrm>
            <a:off x="847875" y="18163941"/>
            <a:ext cx="14068226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</a:t>
            </a:r>
            <a:r>
              <a:rPr lang="ko-KR" altLang="en-US" sz="2600" b="1" i="0">
                <a:latin typeface="Times New Roman"/>
                <a:ea typeface="돋움"/>
                <a:cs typeface="Times New Roman"/>
              </a:rPr>
              <a:t>LSTM branch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 : 예측일 1년 전 시점까지 84일의 승차 시계열 (호선별 log1p 변환 후 표준화)을 LSTM (Hochreiter와 Schmidhuber, 1997)으로 학습</a:t>
            </a: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</a:t>
            </a:r>
            <a:r>
              <a:rPr lang="ko-KR" altLang="en-US" sz="2600" b="1" i="0">
                <a:latin typeface="Times New Roman"/>
                <a:ea typeface="돋움"/>
                <a:cs typeface="Times New Roman"/>
              </a:rPr>
              <a:t>DNN branch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 : 수요 수준, 증감 방향, 달력 (비근무일, 주말, 공휴일 등), 요일·월 순환 표현, 추세, 코로나 구간, 호선 등 정적 변수 21개를 완전연결 심층신경망 (Goodfellow 등, 2016)으로 학습</a:t>
            </a: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두 branch의 32차원 표현을 결합 (concat)하여 표준화된 로그 증감량을 출력하며, 4개 호선을 하나의 전역 모형 (global model)으로 학습함 (Adam, MSE 손실, EarlyStopping)</a:t>
            </a:r>
          </a:p>
        </p:txBody>
      </p:sp>
      <p:sp>
        <p:nvSpPr>
          <p:cNvPr id="5010" name="TextBox 5009"/>
          <p:cNvSpPr txBox="1"/>
          <p:nvPr/>
        </p:nvSpPr>
        <p:spPr>
          <a:xfrm>
            <a:off x="847875" y="21410061"/>
            <a:ext cx="14068226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데이터</a:t>
            </a:r>
          </a:p>
        </p:txBody>
      </p:sp>
      <p:sp>
        <p:nvSpPr>
          <p:cNvPr id="5011" name="TextBox 5010"/>
          <p:cNvSpPr txBox="1"/>
          <p:nvPr/>
        </p:nvSpPr>
        <p:spPr>
          <a:xfrm>
            <a:off x="847875" y="21962511"/>
            <a:ext cx="14068226" cy="1803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 dirty="0">
                <a:latin typeface="Times New Roman"/>
                <a:ea typeface="돋움"/>
                <a:cs typeface="Times New Roman"/>
              </a:rPr>
              <a:t>- 자료 : 부산 도시철도 1–4호선 일별 승차인원 (2016년–2025년)</a:t>
            </a: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 dirty="0">
                <a:latin typeface="Times New Roman"/>
                <a:ea typeface="돋움"/>
                <a:cs typeface="Times New Roman"/>
              </a:rPr>
              <a:t>- 분할 : </a:t>
            </a:r>
            <a:r>
              <a:rPr lang="ko-KR" altLang="en-US" sz="2600" b="0" i="0" dirty="0" err="1">
                <a:latin typeface="Times New Roman"/>
                <a:ea typeface="돋움"/>
                <a:cs typeface="Times New Roman"/>
              </a:rPr>
              <a:t>Train</a:t>
            </a:r>
            <a:r>
              <a:rPr lang="ko-KR" altLang="en-US" sz="2600" b="0" i="0" dirty="0">
                <a:latin typeface="Times New Roman"/>
                <a:ea typeface="돋움"/>
                <a:cs typeface="Times New Roman"/>
              </a:rPr>
              <a:t> 2018–2023, </a:t>
            </a:r>
            <a:r>
              <a:rPr lang="ko-KR" altLang="en-US" sz="2600" b="0" i="0" dirty="0" err="1">
                <a:latin typeface="Times New Roman"/>
                <a:ea typeface="돋움"/>
                <a:cs typeface="Times New Roman"/>
              </a:rPr>
              <a:t>Validation</a:t>
            </a:r>
            <a:r>
              <a:rPr lang="ko-KR" altLang="en-US" sz="2600" b="0" i="0" dirty="0">
                <a:latin typeface="Times New Roman"/>
                <a:ea typeface="돋움"/>
                <a:cs typeface="Times New Roman"/>
              </a:rPr>
              <a:t> 2024 (LOOKBACK 84일·epoch 선택), </a:t>
            </a:r>
            <a:r>
              <a:rPr lang="ko-KR" altLang="en-US" sz="2600" b="0" i="0" dirty="0" err="1">
                <a:latin typeface="Times New Roman"/>
                <a:ea typeface="돋움"/>
                <a:cs typeface="Times New Roman"/>
              </a:rPr>
              <a:t>Test</a:t>
            </a:r>
            <a:r>
              <a:rPr lang="ko-KR" altLang="en-US" sz="2600" b="0" i="0" dirty="0">
                <a:latin typeface="Times New Roman"/>
                <a:ea typeface="돋움"/>
                <a:cs typeface="Times New Roman"/>
              </a:rPr>
              <a:t> 2025 (최종 평가 및 XAI); 최종 모형은 2018–2024년 자료로 </a:t>
            </a:r>
            <a:r>
              <a:rPr lang="ko-KR" altLang="en-US" sz="2600" b="0" i="0" dirty="0" err="1">
                <a:latin typeface="Times New Roman"/>
                <a:ea typeface="돋움"/>
                <a:cs typeface="Times New Roman"/>
              </a:rPr>
              <a:t>재학습</a:t>
            </a:r>
            <a:endParaRPr lang="ko-KR" altLang="en-US" sz="2600" b="0" i="0" dirty="0">
              <a:latin typeface="Times New Roman"/>
              <a:ea typeface="돋움"/>
              <a:cs typeface="Times New Roman"/>
            </a:endParaRP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 dirty="0">
                <a:latin typeface="Times New Roman"/>
                <a:ea typeface="돋움"/>
                <a:cs typeface="Times New Roman"/>
              </a:rPr>
              <a:t>- 비교 모형 : ARIMA (</a:t>
            </a:r>
            <a:r>
              <a:rPr lang="ko-KR" altLang="en-US" sz="2600" b="0" i="0" dirty="0" err="1">
                <a:latin typeface="Times New Roman"/>
                <a:ea typeface="돋움"/>
                <a:cs typeface="Times New Roman"/>
              </a:rPr>
              <a:t>Box</a:t>
            </a:r>
            <a:r>
              <a:rPr lang="ko-KR" altLang="en-US" sz="2600" b="0" i="0" dirty="0">
                <a:latin typeface="Times New Roman"/>
                <a:ea typeface="돋움"/>
                <a:cs typeface="Times New Roman"/>
              </a:rPr>
              <a:t> 등, 2015), DNN, LSTM</a:t>
            </a:r>
          </a:p>
        </p:txBody>
      </p:sp>
      <p:sp>
        <p:nvSpPr>
          <p:cNvPr id="5012" name="TextBox 5011"/>
          <p:cNvSpPr txBox="1"/>
          <p:nvPr/>
        </p:nvSpPr>
        <p:spPr>
          <a:xfrm>
            <a:off x="847875" y="24019911"/>
            <a:ext cx="14068226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예측 성능 비교 (2025 Test)</a:t>
            </a:r>
          </a:p>
        </p:txBody>
      </p:sp>
      <p:sp>
        <p:nvSpPr>
          <p:cNvPr id="5013" name="TextBox 5012"/>
          <p:cNvSpPr txBox="1"/>
          <p:nvPr/>
        </p:nvSpPr>
        <p:spPr>
          <a:xfrm>
            <a:off x="847875" y="24618081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400" b="1" i="0">
                <a:latin typeface="Times New Roman"/>
                <a:ea typeface="돋움"/>
                <a:cs typeface="Times New Roman"/>
              </a:rPr>
              <a:t>- 모형 비교</a:t>
            </a:r>
          </a:p>
        </p:txBody>
      </p:sp>
      <p:graphicFrame>
        <p:nvGraphicFramePr>
          <p:cNvPr id="5014" name="Table 5013"/>
          <p:cNvGraphicFramePr>
            <a:graphicFrameLocks noGrp="1"/>
          </p:cNvGraphicFramePr>
          <p:nvPr/>
        </p:nvGraphicFramePr>
        <p:xfrm>
          <a:off x="847875" y="25029561"/>
          <a:ext cx="5852157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RMSE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MAPE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WAPE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R²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LSTM-DNN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18,013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5.36%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4.73%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0.9886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DNN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18,861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7.37%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5.37%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0.9875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LSTM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36,979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12.50%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10.29%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0.9520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ARIMA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46,090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19.01%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14.97%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0.9254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15" name="TextBox 5014"/>
          <p:cNvSpPr txBox="1"/>
          <p:nvPr/>
        </p:nvSpPr>
        <p:spPr>
          <a:xfrm>
            <a:off x="847875" y="27498441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400" b="1" i="0">
                <a:latin typeface="Times New Roman"/>
                <a:ea typeface="돋움"/>
                <a:cs typeface="Times New Roman"/>
              </a:rPr>
              <a:t>- LSTM-DNN 호선별 성능</a:t>
            </a:r>
          </a:p>
        </p:txBody>
      </p:sp>
      <p:graphicFrame>
        <p:nvGraphicFramePr>
          <p:cNvPr id="5016" name="Table 5015"/>
          <p:cNvGraphicFramePr>
            <a:graphicFrameLocks noGrp="1"/>
          </p:cNvGraphicFramePr>
          <p:nvPr/>
        </p:nvGraphicFramePr>
        <p:xfrm>
          <a:off x="847875" y="27909921"/>
          <a:ext cx="5852158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50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1호선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2호선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3호선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4호선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MAPE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4.74%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5.15%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6.12%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5.43%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R²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0.878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0.800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0.864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0.910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017" name="Picture 5016" descr="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635" y="24618081"/>
            <a:ext cx="7987466" cy="5655188"/>
          </a:xfrm>
          <a:prstGeom prst="rect">
            <a:avLst/>
          </a:prstGeom>
        </p:spPr>
      </p:pic>
      <p:sp>
        <p:nvSpPr>
          <p:cNvPr id="5018" name="TextBox 5017"/>
          <p:cNvSpPr txBox="1"/>
          <p:nvPr/>
        </p:nvSpPr>
        <p:spPr>
          <a:xfrm>
            <a:off x="6928635" y="30300702"/>
            <a:ext cx="798746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000" b="0" i="0">
                <a:latin typeface="Times New Roman"/>
                <a:ea typeface="돋움"/>
                <a:cs typeface="Times New Roman"/>
              </a:rPr>
              <a:t>관측값 (파랑), 2025 실제값 (주황), 예측값 (초록)</a:t>
            </a:r>
          </a:p>
        </p:txBody>
      </p:sp>
      <p:sp>
        <p:nvSpPr>
          <p:cNvPr id="5019" name="TextBox 5018"/>
          <p:cNvSpPr txBox="1"/>
          <p:nvPr/>
        </p:nvSpPr>
        <p:spPr>
          <a:xfrm>
            <a:off x="847875" y="30776190"/>
            <a:ext cx="14068226" cy="808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LSTM-DNN이 모든 지표에서 가장 낮은 오차를 보였으며, 호선별 MAPE도 4.7–6.1%로 안정적임</a:t>
            </a:r>
          </a:p>
        </p:txBody>
      </p:sp>
      <p:sp>
        <p:nvSpPr>
          <p:cNvPr id="5020" name="TextBox 5019"/>
          <p:cNvSpPr txBox="1"/>
          <p:nvPr/>
        </p:nvSpPr>
        <p:spPr>
          <a:xfrm>
            <a:off x="847875" y="31996660"/>
            <a:ext cx="14068226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설명가능한 인공지능 (XAI) 분석</a:t>
            </a:r>
          </a:p>
        </p:txBody>
      </p:sp>
      <p:sp>
        <p:nvSpPr>
          <p:cNvPr id="5021" name="TextBox 5020"/>
          <p:cNvSpPr txBox="1"/>
          <p:nvPr/>
        </p:nvSpPr>
        <p:spPr>
          <a:xfrm>
            <a:off x="847875" y="32549110"/>
            <a:ext cx="14068226" cy="1239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</a:t>
            </a:r>
            <a:r>
              <a:rPr lang="ko-KR" altLang="en-US" sz="2600" b="1" i="0">
                <a:latin typeface="Times New Roman"/>
                <a:ea typeface="돋움"/>
                <a:cs typeface="Times New Roman"/>
              </a:rPr>
              <a:t>Integrated Gradients (IG; Sundararajan 등, 2017)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 : 기준점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x′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에서 입력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x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까지 경로를 따라 기울기를 적분한 예측 기여도</a:t>
            </a:r>
          </a:p>
          <a:p>
            <a:pPr marL="329184" indent="-329184" algn="l">
              <a:lnSpc>
                <a:spcPct val="105000"/>
              </a:lnSpc>
              <a:spcBef>
                <a:spcPts val="4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</a:t>
            </a:r>
            <a:r>
              <a:rPr lang="ko-KR" altLang="en-US" sz="2600" b="1" i="0">
                <a:latin typeface="Times New Roman"/>
                <a:ea typeface="돋움"/>
                <a:cs typeface="Times New Roman"/>
              </a:rPr>
              <a:t>Permutation importance (PI; Breiman, 2001)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 : 변수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j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를 무작위로 섞었을 때의 오차 증가량</a:t>
            </a:r>
          </a:p>
        </p:txBody>
      </p:sp>
      <p:sp>
        <p:nvSpPr>
          <p:cNvPr id="5022" name="Rectangle 5021"/>
          <p:cNvSpPr/>
          <p:nvPr/>
        </p:nvSpPr>
        <p:spPr>
          <a:xfrm>
            <a:off x="1396515" y="34017230"/>
            <a:ext cx="12970946" cy="685800"/>
          </a:xfrm>
          <a:prstGeom prst="rect">
            <a:avLst/>
          </a:prstGeom>
          <a:solidFill>
            <a:srgbClr val="F4F4FB"/>
          </a:solidFill>
          <a:ln w="190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6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IG</a:t>
            </a:r>
            <a:r>
              <a:rPr lang="ko-KR" altLang="en-US" sz="26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i</a:t>
            </a:r>
            <a:r>
              <a:rPr lang="ko-KR" altLang="en-US" sz="26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(x) = (x</a:t>
            </a:r>
            <a:r>
              <a:rPr lang="ko-KR" altLang="en-US" sz="26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i</a:t>
            </a:r>
            <a:r>
              <a:rPr lang="ko-KR" altLang="en-US" sz="26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 − x′</a:t>
            </a:r>
            <a:r>
              <a:rPr lang="ko-KR" altLang="en-US" sz="26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i</a:t>
            </a:r>
            <a:r>
              <a:rPr lang="ko-KR" altLang="en-US" sz="26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) ∫</a:t>
            </a:r>
            <a:r>
              <a:rPr lang="ko-KR" altLang="en-US" sz="2000" b="0" i="0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0</a:t>
            </a:r>
            <a:r>
              <a:rPr lang="ko-KR" altLang="en-US" sz="2000" b="0" i="0" baseline="30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1</a:t>
            </a:r>
            <a:r>
              <a:rPr lang="ko-KR" altLang="en-US" sz="26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 ∂F(x′ + α(x − x′)) / ∂x</a:t>
            </a:r>
            <a:r>
              <a:rPr lang="ko-KR" altLang="en-US" sz="26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i</a:t>
            </a:r>
            <a:r>
              <a:rPr lang="ko-KR" altLang="en-US" sz="26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 dα</a:t>
            </a:r>
            <a:r>
              <a:rPr lang="ko-KR" altLang="en-US" sz="26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,      PI</a:t>
            </a:r>
            <a:r>
              <a:rPr lang="ko-KR" altLang="en-US" sz="26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j</a:t>
            </a:r>
            <a:r>
              <a:rPr lang="ko-KR" altLang="en-US" sz="26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 = RMSE(</a:t>
            </a:r>
            <a:r>
              <a:rPr lang="ko-KR" altLang="en-US" sz="26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X</a:t>
            </a:r>
            <a:r>
              <a:rPr lang="ko-KR" altLang="en-US" sz="2600" b="0" i="1" baseline="30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(j)</a:t>
            </a:r>
            <a:r>
              <a:rPr lang="ko-KR" altLang="en-US" sz="26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) − RMSE(</a:t>
            </a:r>
            <a:r>
              <a:rPr lang="ko-KR" altLang="en-US" sz="26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X</a:t>
            </a:r>
            <a:r>
              <a:rPr lang="ko-KR" altLang="en-US" sz="26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)</a:t>
            </a:r>
          </a:p>
        </p:txBody>
      </p:sp>
      <p:sp>
        <p:nvSpPr>
          <p:cNvPr id="5023" name="TextBox 5022"/>
          <p:cNvSpPr txBox="1"/>
          <p:nvPr/>
        </p:nvSpPr>
        <p:spPr>
          <a:xfrm>
            <a:off x="847875" y="34840190"/>
            <a:ext cx="14068226" cy="187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-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F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(·) : 학습된 LSTM-DNN의 예측함수 (표준화된 로그 증감량), 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x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 : 입력 변수 벡터, 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x</a:t>
            </a:r>
            <a:r>
              <a:rPr lang="ko-KR" altLang="en-US" sz="2400" b="0" i="1" baseline="-25000">
                <a:latin typeface="Times New Roman"/>
                <a:ea typeface="돋움"/>
                <a:cs typeface="Times New Roman"/>
              </a:rPr>
              <a:t>i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 :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i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번째 입력 변수, 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x′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 : 기준점 (baseline; 표준화 기준 0, 즉 학습자료 평균 수준), 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α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 ∈ [0, 1] : 기준점에서 입력까지의 경로 매개변수</a:t>
            </a:r>
          </a:p>
          <a:p>
            <a:pPr marL="329184" indent="-329184" algn="l">
              <a:lnSpc>
                <a:spcPct val="105000"/>
              </a:lnSpc>
              <a:spcBef>
                <a:spcPts val="400"/>
              </a:spcBef>
            </a:pP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-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X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 : 2025 Test 자료의 입력, 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X</a:t>
            </a:r>
            <a:r>
              <a:rPr lang="ko-KR" altLang="en-US" sz="2400" b="0" i="1" baseline="30000">
                <a:latin typeface="Times New Roman"/>
                <a:ea typeface="돋움"/>
                <a:cs typeface="Times New Roman"/>
              </a:rPr>
              <a:t>(j)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 :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X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에서 </a:t>
            </a:r>
            <a:r>
              <a:rPr lang="ko-KR" altLang="en-US" sz="2400" b="0" i="1">
                <a:latin typeface="Times New Roman"/>
                <a:ea typeface="돋움"/>
                <a:cs typeface="Times New Roman"/>
              </a:rPr>
              <a:t>j</a:t>
            </a:r>
            <a:r>
              <a:rPr lang="ko-KR" altLang="en-US" sz="2400" b="0" i="0">
                <a:latin typeface="Times New Roman"/>
                <a:ea typeface="돋움"/>
                <a:cs typeface="Times New Roman"/>
              </a:rPr>
              <a:t>번째 변수의 값만 무작위로 섞은 자료,  RMSE(·) : 해당 자료로 예측한 RMSE (반복 평균)</a:t>
            </a:r>
          </a:p>
        </p:txBody>
      </p:sp>
      <p:pic>
        <p:nvPicPr>
          <p:cNvPr id="5024" name="Picture 5023" descr="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5443" y="37138141"/>
            <a:ext cx="4937760" cy="4202062"/>
          </a:xfrm>
          <a:prstGeom prst="rect">
            <a:avLst/>
          </a:prstGeom>
        </p:spPr>
      </p:pic>
      <p:pic>
        <p:nvPicPr>
          <p:cNvPr id="5025" name="Picture 5024" descr="pe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772" y="37068011"/>
            <a:ext cx="4937760" cy="4498827"/>
          </a:xfrm>
          <a:prstGeom prst="rect">
            <a:avLst/>
          </a:prstGeom>
        </p:spPr>
      </p:pic>
      <p:sp>
        <p:nvSpPr>
          <p:cNvPr id="5026" name="TextBox 5025"/>
          <p:cNvSpPr txBox="1"/>
          <p:nvPr/>
        </p:nvSpPr>
        <p:spPr>
          <a:xfrm>
            <a:off x="847875" y="41717633"/>
            <a:ext cx="14068226" cy="38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 dirty="0">
                <a:latin typeface="Times New Roman"/>
                <a:ea typeface="돋움"/>
                <a:cs typeface="Times New Roman"/>
              </a:rPr>
              <a:t>- 두 방법 모두 비근무일 (</a:t>
            </a:r>
            <a:r>
              <a:rPr lang="ko-KR" altLang="en-US" sz="2600" b="0" i="0" dirty="0" err="1">
                <a:latin typeface="Times New Roman"/>
                <a:ea typeface="돋움"/>
                <a:cs typeface="Times New Roman"/>
              </a:rPr>
              <a:t>is_offday</a:t>
            </a:r>
            <a:r>
              <a:rPr lang="ko-KR" altLang="en-US" sz="2600" b="0" i="0" dirty="0">
                <a:latin typeface="Times New Roman"/>
                <a:ea typeface="돋움"/>
                <a:cs typeface="Times New Roman"/>
              </a:rPr>
              <a:t>), 주말, 요일 주기 등 달력 효과를 최상위 예측요인으로 평가함</a:t>
            </a:r>
          </a:p>
        </p:txBody>
      </p:sp>
      <p:sp>
        <p:nvSpPr>
          <p:cNvPr id="3" name="Rectangle 1280">
            <a:extLst>
              <a:ext uri="{FF2B5EF4-FFF2-40B4-BE49-F238E27FC236}">
                <a16:creationId xmlns:a16="http://schemas.microsoft.com/office/drawing/2014/main" id="{51254F07-666A-4E9E-9412-F7EB30C8D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20453" y="4407505"/>
            <a:ext cx="14287682" cy="10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/>
        </p:spPr>
        <p:txBody>
          <a:bodyPr wrap="none" anchor="ctr"/>
          <a:lstStyle>
            <a:lvl1pPr defTabSz="4176713" latinLnBrk="1">
              <a:spcBef>
                <a:spcPct val="20000"/>
              </a:spcBef>
              <a:buChar char="•"/>
              <a:defRPr kumimoji="1" sz="14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394075" indent="-1306513" defTabSz="4176713" latinLnBrk="1">
              <a:spcBef>
                <a:spcPct val="20000"/>
              </a:spcBef>
              <a:buChar char="–"/>
              <a:defRPr kumimoji="1" sz="1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5221288" indent="-1044575" defTabSz="4176713" latinLnBrk="1">
              <a:spcBef>
                <a:spcPct val="20000"/>
              </a:spcBef>
              <a:buChar char="•"/>
              <a:defRPr kumimoji="1" sz="1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7308850" indent="-1044575" defTabSz="4176713" latinLnBrk="1">
              <a:spcBef>
                <a:spcPct val="20000"/>
              </a:spcBef>
              <a:buChar char="–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9396413" indent="-1042988" defTabSz="4176713" latinLnBrk="1">
              <a:spcBef>
                <a:spcPct val="20000"/>
              </a:spcBef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98536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103108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07680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12252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5000" b="1" dirty="0">
                <a:solidFill>
                  <a:schemeClr val="bg1"/>
                </a:solidFill>
                <a:latin typeface="Times New Roman" panose="02020603050405020304" pitchFamily="18" charset="0"/>
                <a:ea typeface="돋움" panose="020B0600000101010101" pitchFamily="50" charset="-127"/>
                <a:cs typeface="Times New Roman" panose="02020603050405020304" pitchFamily="18" charset="0"/>
              </a:rPr>
              <a:t> Ⅱ. 혼잡도 예측</a:t>
            </a:r>
          </a:p>
        </p:txBody>
      </p:sp>
      <p:sp>
        <p:nvSpPr>
          <p:cNvPr id="5027" name="TextBox 5026"/>
          <p:cNvSpPr txBox="1"/>
          <p:nvPr/>
        </p:nvSpPr>
        <p:spPr>
          <a:xfrm>
            <a:off x="15430181" y="5670385"/>
            <a:ext cx="1400187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혼잡도 지표 정의</a:t>
            </a:r>
          </a:p>
        </p:txBody>
      </p:sp>
      <p:sp>
        <p:nvSpPr>
          <p:cNvPr id="5028" name="TextBox 5027"/>
          <p:cNvSpPr txBox="1"/>
          <p:nvPr/>
        </p:nvSpPr>
        <p:spPr>
          <a:xfrm>
            <a:off x="15430181" y="6222835"/>
            <a:ext cx="14001879" cy="792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호선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l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, 시간대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t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의 승객 수요를 운행 열차의 총 수송정원으로 나누어 혼잡도 (%)를 정의함</a:t>
            </a:r>
          </a:p>
        </p:txBody>
      </p:sp>
      <p:sp>
        <p:nvSpPr>
          <p:cNvPr id="5029" name="Rectangle 5028"/>
          <p:cNvSpPr/>
          <p:nvPr/>
        </p:nvSpPr>
        <p:spPr>
          <a:xfrm>
            <a:off x="15430181" y="7152475"/>
            <a:ext cx="8229600" cy="1188720"/>
          </a:xfrm>
          <a:prstGeom prst="rect">
            <a:avLst/>
          </a:prstGeom>
          <a:solidFill>
            <a:srgbClr val="F4F4FB"/>
          </a:solidFill>
          <a:ln w="190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5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총 수송정원</a:t>
            </a:r>
            <a:r>
              <a:rPr lang="ko-KR" altLang="en-US" sz="25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l,t</a:t>
            </a:r>
            <a:r>
              <a:rPr lang="ko-KR" altLang="en-US" sz="25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 = </a:t>
            </a:r>
            <a:r>
              <a:rPr lang="ko-KR" altLang="en-US" sz="25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N</a:t>
            </a:r>
            <a:r>
              <a:rPr lang="ko-KR" altLang="en-US" sz="25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l,t</a:t>
            </a:r>
            <a:r>
              <a:rPr lang="ko-KR" altLang="en-US" sz="25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 × </a:t>
            </a:r>
            <a:r>
              <a:rPr lang="ko-KR" altLang="en-US" sz="2500" b="0" i="1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C</a:t>
            </a:r>
            <a:r>
              <a:rPr lang="ko-KR" altLang="en-US" sz="25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l</a:t>
            </a:r>
          </a:p>
          <a:p>
            <a:pPr algn="ctr">
              <a:spcBef>
                <a:spcPts val="800"/>
              </a:spcBef>
            </a:pPr>
            <a:r>
              <a:rPr lang="ko-KR" altLang="en-US" sz="25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혼잡도</a:t>
            </a:r>
            <a:r>
              <a:rPr lang="ko-KR" altLang="en-US" sz="25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l,t</a:t>
            </a:r>
            <a:r>
              <a:rPr lang="ko-KR" altLang="en-US" sz="25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 (%) = (승객 수요</a:t>
            </a:r>
            <a:r>
              <a:rPr lang="ko-KR" altLang="en-US" sz="25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l,t</a:t>
            </a:r>
            <a:r>
              <a:rPr lang="ko-KR" altLang="en-US" sz="25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 / 총 수송정원</a:t>
            </a:r>
            <a:r>
              <a:rPr lang="ko-KR" altLang="en-US" sz="2500" b="0" i="1" baseline="-2500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l,t</a:t>
            </a:r>
            <a:r>
              <a:rPr lang="ko-KR" altLang="en-US" sz="2500" b="0" i="0">
                <a:solidFill>
                  <a:srgbClr val="000000"/>
                </a:solidFill>
                <a:latin typeface="Cambria Math"/>
                <a:ea typeface="돋움"/>
                <a:cs typeface="Cambria Math"/>
              </a:rPr>
              <a:t>) × 100</a:t>
            </a:r>
          </a:p>
        </p:txBody>
      </p:sp>
      <p:sp>
        <p:nvSpPr>
          <p:cNvPr id="5030" name="TextBox 5029"/>
          <p:cNvSpPr txBox="1"/>
          <p:nvPr/>
        </p:nvSpPr>
        <p:spPr>
          <a:xfrm>
            <a:off x="15430181" y="8478355"/>
            <a:ext cx="8229600" cy="817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N</a:t>
            </a:r>
            <a:r>
              <a:rPr lang="ko-KR" altLang="en-US" sz="2600" b="0" i="1" baseline="-25000">
                <a:latin typeface="Times New Roman"/>
                <a:ea typeface="돋움"/>
                <a:cs typeface="Times New Roman"/>
              </a:rPr>
              <a:t>l,t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 : 시간대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t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에 호선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l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에서 운행한 열차 수</a:t>
            </a:r>
          </a:p>
          <a:p>
            <a:pPr marL="329184" indent="-329184" algn="l">
              <a:lnSpc>
                <a:spcPct val="105000"/>
              </a:lnSpc>
              <a:spcBef>
                <a:spcPts val="2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C</a:t>
            </a:r>
            <a:r>
              <a:rPr lang="ko-KR" altLang="en-US" sz="2600" b="0" i="1" baseline="-25000">
                <a:latin typeface="Times New Roman"/>
                <a:ea typeface="돋움"/>
                <a:cs typeface="Times New Roman"/>
              </a:rPr>
              <a:t>l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 : 호선 </a:t>
            </a:r>
            <a:r>
              <a:rPr lang="ko-KR" altLang="en-US" sz="2600" b="0" i="1">
                <a:latin typeface="Times New Roman"/>
                <a:ea typeface="돋움"/>
                <a:cs typeface="Times New Roman"/>
              </a:rPr>
              <a:t>l</a:t>
            </a: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의 열차 1편성당 수송정원</a:t>
            </a:r>
          </a:p>
        </p:txBody>
      </p:sp>
      <p:graphicFrame>
        <p:nvGraphicFramePr>
          <p:cNvPr id="5031" name="Table 5030"/>
          <p:cNvGraphicFramePr>
            <a:graphicFrameLocks noGrp="1"/>
          </p:cNvGraphicFramePr>
          <p:nvPr/>
        </p:nvGraphicFramePr>
        <p:xfrm>
          <a:off x="23979821" y="7152475"/>
          <a:ext cx="5452239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97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호선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편성당 정원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1호선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970명 (8량)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2호선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722명 (6량)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3호선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474명 (4량)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4호선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316명 (6량)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32" name="TextBox 5031"/>
          <p:cNvSpPr txBox="1"/>
          <p:nvPr/>
        </p:nvSpPr>
        <p:spPr>
          <a:xfrm>
            <a:off x="15430181" y="9712795"/>
            <a:ext cx="1400187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데이터</a:t>
            </a:r>
          </a:p>
        </p:txBody>
      </p:sp>
      <p:sp>
        <p:nvSpPr>
          <p:cNvPr id="5033" name="TextBox 5032"/>
          <p:cNvSpPr txBox="1"/>
          <p:nvPr/>
        </p:nvSpPr>
        <p:spPr>
          <a:xfrm>
            <a:off x="15430181" y="10265245"/>
            <a:ext cx="14001879" cy="126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자료 : 부산교통공사 시간대별 승하차인원 및 열차시각표 (공공데이터포털), 전동차 주요사양 (수송정원)</a:t>
            </a: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기간 : 2016년 1월–2025년 12월 (호선별 일 단위로 집계)</a:t>
            </a:r>
          </a:p>
        </p:txBody>
      </p:sp>
      <p:sp>
        <p:nvSpPr>
          <p:cNvPr id="5034" name="TextBox 5033"/>
          <p:cNvSpPr txBox="1"/>
          <p:nvPr/>
        </p:nvSpPr>
        <p:spPr>
          <a:xfrm>
            <a:off x="15430181" y="11804485"/>
            <a:ext cx="1400187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연도·월별 평균 혼잡도</a:t>
            </a:r>
          </a:p>
        </p:txBody>
      </p:sp>
      <p:pic>
        <p:nvPicPr>
          <p:cNvPr id="5035" name="Picture 5034" descr="im-0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30181" y="12402655"/>
            <a:ext cx="5943600" cy="4415245"/>
          </a:xfrm>
          <a:prstGeom prst="rect">
            <a:avLst/>
          </a:prstGeom>
        </p:spPr>
      </p:pic>
      <p:sp>
        <p:nvSpPr>
          <p:cNvPr id="5036" name="TextBox 5035"/>
          <p:cNvSpPr txBox="1"/>
          <p:nvPr/>
        </p:nvSpPr>
        <p:spPr>
          <a:xfrm>
            <a:off x="21648101" y="12905575"/>
            <a:ext cx="7783959" cy="273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코로나19 이전 (2016–2019년)에는 월평균 혼잡도가 109–129% 수준으로 높게 유지됨</a:t>
            </a:r>
          </a:p>
          <a:p>
            <a:pPr marL="329184" indent="-329184" algn="l">
              <a:lnSpc>
                <a:spcPct val="105000"/>
              </a:lnSpc>
              <a:spcBef>
                <a:spcPts val="14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- 2019년 3월 124.3% → 2020년 3월 62.9%로 </a:t>
            </a:r>
            <a:r>
              <a:rPr lang="ko-KR" altLang="en-US" sz="2600" b="1" i="0">
                <a:latin typeface="Times New Roman"/>
                <a:ea typeface="돋움"/>
                <a:cs typeface="Times New Roman"/>
              </a:rPr>
              <a:t>61.4%p 감소</a:t>
            </a:r>
          </a:p>
          <a:p>
            <a:pPr marL="329184" indent="-329184" algn="l">
              <a:lnSpc>
                <a:spcPct val="105000"/>
              </a:lnSpc>
              <a:spcBef>
                <a:spcPts val="14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- 2022년 이후 점진적으로 회복되어 2025년에는 100–117% 수준을 보임</a:t>
            </a:r>
          </a:p>
        </p:txBody>
      </p:sp>
      <p:sp>
        <p:nvSpPr>
          <p:cNvPr id="5037" name="TextBox 5036"/>
          <p:cNvSpPr txBox="1"/>
          <p:nvPr/>
        </p:nvSpPr>
        <p:spPr>
          <a:xfrm>
            <a:off x="15430181" y="17092220"/>
            <a:ext cx="1400187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예측 모형: CNN-LSTM</a:t>
            </a:r>
          </a:p>
        </p:txBody>
      </p:sp>
      <p:sp>
        <p:nvSpPr>
          <p:cNvPr id="5038" name="TextBox 5037"/>
          <p:cNvSpPr txBox="1"/>
          <p:nvPr/>
        </p:nvSpPr>
        <p:spPr>
          <a:xfrm>
            <a:off x="15430181" y="17644670"/>
            <a:ext cx="14001879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입력 : 날짜 (일, 월, 연도), 공휴일 여부, 과거 혼잡도 시계열;  출력 : 일별 혼잡도 지수</a:t>
            </a: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합성곱 층 (LeCun 등, 1998)과 max pooling 층으로 시계열의 국소 패턴을 추출한 후 LSTM 층과 완전연결 층으로 예측하며, LSTM 단독 모형과 비교함 (MSE 손실)</a:t>
            </a: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분할 : Train 2016–2023, Validation 2024 (하이퍼파라미터·epoch 선택), Test 2025; 최종 모형은 2016–2024년 자료로 재학습</a:t>
            </a:r>
          </a:p>
        </p:txBody>
      </p:sp>
      <p:pic>
        <p:nvPicPr>
          <p:cNvPr id="5039" name="Picture 5038" descr="im-00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99200" y="19869710"/>
            <a:ext cx="7863840" cy="3296560"/>
          </a:xfrm>
          <a:prstGeom prst="rect">
            <a:avLst/>
          </a:prstGeom>
        </p:spPr>
      </p:pic>
      <p:sp>
        <p:nvSpPr>
          <p:cNvPr id="5040" name="TextBox 5039"/>
          <p:cNvSpPr txBox="1"/>
          <p:nvPr/>
        </p:nvSpPr>
        <p:spPr>
          <a:xfrm>
            <a:off x="15430181" y="23440591"/>
            <a:ext cx="1400187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예측 성능 비교 (2025 Test)</a:t>
            </a:r>
          </a:p>
        </p:txBody>
      </p:sp>
      <p:graphicFrame>
        <p:nvGraphicFramePr>
          <p:cNvPr id="5041" name="Table 5040"/>
          <p:cNvGraphicFramePr>
            <a:graphicFrameLocks noGrp="1"/>
          </p:cNvGraphicFramePr>
          <p:nvPr/>
        </p:nvGraphicFramePr>
        <p:xfrm>
          <a:off x="15430181" y="24038761"/>
          <a:ext cx="6675118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30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1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1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지표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모형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1호선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2호선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3호선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FFFFFF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4호선</a:t>
                      </a:r>
                    </a:p>
                  </a:txBody>
                  <a:tcPr marL="73152" marR="73152" marT="27432" marB="27432" anchor="ctr">
                    <a:solidFill>
                      <a:srgbClr val="7C7C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MAE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LSTM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13.403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7.135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4.653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1.847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CNN-LSTM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12.289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5.880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4.356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1.699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RMSE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LSTM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17.331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8.923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6.576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2.209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CNN-LSTM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16.623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7.623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6.107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>
                          <a:solidFill>
                            <a:srgbClr val="000000"/>
                          </a:solidFill>
                          <a:latin typeface="Times New Roman"/>
                          <a:ea typeface="돋움"/>
                          <a:cs typeface="Times New Roman"/>
                        </a:rPr>
                        <a:t>2.082</a:t>
                      </a:r>
                    </a:p>
                  </a:txBody>
                  <a:tcPr marL="73152" marR="73152" marT="27432" marB="27432" anchor="ctr">
                    <a:solidFill>
                      <a:srgbClr val="E6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42" name="Picture 5041" descr="im-00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33901" y="24038761"/>
            <a:ext cx="7098159" cy="4771099"/>
          </a:xfrm>
          <a:prstGeom prst="rect">
            <a:avLst/>
          </a:prstGeom>
        </p:spPr>
      </p:pic>
      <p:sp>
        <p:nvSpPr>
          <p:cNvPr id="5043" name="TextBox 5042"/>
          <p:cNvSpPr txBox="1"/>
          <p:nvPr/>
        </p:nvSpPr>
        <p:spPr>
          <a:xfrm>
            <a:off x="22333901" y="28837292"/>
            <a:ext cx="70981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000" b="0" i="0">
                <a:latin typeface="Times New Roman"/>
                <a:ea typeface="돋움"/>
                <a:cs typeface="Times New Roman"/>
              </a:rPr>
              <a:t>관측값 (파랑), 2025 실제값 (주황), 예측값 (초록)</a:t>
            </a:r>
          </a:p>
        </p:txBody>
      </p:sp>
      <p:sp>
        <p:nvSpPr>
          <p:cNvPr id="5044" name="TextBox 5043"/>
          <p:cNvSpPr txBox="1"/>
          <p:nvPr/>
        </p:nvSpPr>
        <p:spPr>
          <a:xfrm>
            <a:off x="15430181" y="29312780"/>
            <a:ext cx="14001879" cy="808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CNN-LSTM이 4개 호선 모두에서 LSTM보다 낮은 MAE와 RMSE를 보였으며, 실제 혼잡도의 주간 반복 패턴을 잘 추적함</a:t>
            </a:r>
          </a:p>
        </p:txBody>
      </p:sp>
      <p:sp>
        <p:nvSpPr>
          <p:cNvPr id="5045" name="TextBox 5044"/>
          <p:cNvSpPr txBox="1"/>
          <p:nvPr/>
        </p:nvSpPr>
        <p:spPr>
          <a:xfrm>
            <a:off x="15430181" y="30396090"/>
            <a:ext cx="1400187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2026년 혼잡도 예측</a:t>
            </a:r>
          </a:p>
        </p:txBody>
      </p:sp>
      <p:pic>
        <p:nvPicPr>
          <p:cNvPr id="5046" name="Picture 5045" descr="im-0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30181" y="30994260"/>
            <a:ext cx="5669280" cy="3733916"/>
          </a:xfrm>
          <a:prstGeom prst="rect">
            <a:avLst/>
          </a:prstGeom>
        </p:spPr>
      </p:pic>
      <p:sp>
        <p:nvSpPr>
          <p:cNvPr id="5047" name="TextBox 5046"/>
          <p:cNvSpPr txBox="1"/>
          <p:nvPr/>
        </p:nvSpPr>
        <p:spPr>
          <a:xfrm>
            <a:off x="21373781" y="31497180"/>
            <a:ext cx="8058279" cy="233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CNN-LSTM으로 2026년 1–12월의 호선별 일별 혼잡도를 예측함</a:t>
            </a:r>
          </a:p>
          <a:p>
            <a:pPr marL="329184" indent="-329184" algn="l">
              <a:lnSpc>
                <a:spcPct val="105000"/>
              </a:lnSpc>
              <a:spcBef>
                <a:spcPts val="14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- 4개 호선 모두 기존의 주간 반복 패턴과 호선별 혼잡 수준의 차이가 유지될 것으로 예측됨</a:t>
            </a:r>
          </a:p>
          <a:p>
            <a:pPr marL="329184" indent="-329184" algn="l">
              <a:lnSpc>
                <a:spcPct val="105000"/>
              </a:lnSpc>
              <a:spcBef>
                <a:spcPts val="14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과거 관측값 (파랑), 2026년 예측값 (보라)</a:t>
            </a:r>
          </a:p>
        </p:txBody>
      </p:sp>
      <p:sp>
        <p:nvSpPr>
          <p:cNvPr id="4" name="Rectangle 1280">
            <a:extLst>
              <a:ext uri="{FF2B5EF4-FFF2-40B4-BE49-F238E27FC236}">
                <a16:creationId xmlns:a16="http://schemas.microsoft.com/office/drawing/2014/main" id="{51254F07-666A-4E9E-9412-F7EB30C8D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20453" y="35002497"/>
            <a:ext cx="14287682" cy="10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/>
        </p:spPr>
        <p:txBody>
          <a:bodyPr wrap="none" anchor="ctr"/>
          <a:lstStyle>
            <a:lvl1pPr defTabSz="4176713" latinLnBrk="1">
              <a:spcBef>
                <a:spcPct val="20000"/>
              </a:spcBef>
              <a:buChar char="•"/>
              <a:defRPr kumimoji="1" sz="14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394075" indent="-1306513" defTabSz="4176713" latinLnBrk="1">
              <a:spcBef>
                <a:spcPct val="20000"/>
              </a:spcBef>
              <a:buChar char="–"/>
              <a:defRPr kumimoji="1" sz="1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5221288" indent="-1044575" defTabSz="4176713" latinLnBrk="1">
              <a:spcBef>
                <a:spcPct val="20000"/>
              </a:spcBef>
              <a:buChar char="•"/>
              <a:defRPr kumimoji="1" sz="1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7308850" indent="-1044575" defTabSz="4176713" latinLnBrk="1">
              <a:spcBef>
                <a:spcPct val="20000"/>
              </a:spcBef>
              <a:buChar char="–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9396413" indent="-1042988" defTabSz="4176713" latinLnBrk="1">
              <a:spcBef>
                <a:spcPct val="20000"/>
              </a:spcBef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98536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103108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07680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12252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5000" b="1" dirty="0">
                <a:solidFill>
                  <a:schemeClr val="bg1"/>
                </a:solidFill>
                <a:latin typeface="Times New Roman" panose="02020603050405020304" pitchFamily="18" charset="0"/>
                <a:ea typeface="돋움" panose="020B0600000101010101" pitchFamily="50" charset="-127"/>
                <a:cs typeface="Times New Roman" panose="02020603050405020304" pitchFamily="18" charset="0"/>
              </a:rPr>
              <a:t> 결론</a:t>
            </a:r>
          </a:p>
        </p:txBody>
      </p:sp>
      <p:sp>
        <p:nvSpPr>
          <p:cNvPr id="5048" name="TextBox 5047"/>
          <p:cNvSpPr txBox="1"/>
          <p:nvPr/>
        </p:nvSpPr>
        <p:spPr>
          <a:xfrm>
            <a:off x="15430181" y="36265377"/>
            <a:ext cx="14001879" cy="2529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전년도 동일 날짜 대비 로그 증감량을 예측하는 LSTM-DNN은 2025년 승차수요 예측에서 MAPE 5.36%, R² 0.9886으로 비교 모형보다 우수하였음</a:t>
            </a: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XAI 분석 결과 비근무일, 주말, 요일 주기 등 달력 효과와 직전 연도 증감 방향이 승차수요의 핵심 예측정보로 나타남</a:t>
            </a:r>
          </a:p>
          <a:p>
            <a:pPr marL="329184" indent="-329184" algn="l">
              <a:lnSpc>
                <a:spcPct val="105000"/>
              </a:lnSpc>
              <a:spcBef>
                <a:spcPts val="600"/>
              </a:spcBef>
            </a:pPr>
            <a:r>
              <a:rPr lang="ko-KR" altLang="en-US" sz="2600" b="0" i="0">
                <a:latin typeface="Times New Roman"/>
                <a:ea typeface="돋움"/>
                <a:cs typeface="Times New Roman"/>
              </a:rPr>
              <a:t>- CNN-LSTM은 4개 호선 모두에서 LSTM보다 낮은 혼잡도 예측 오차를 보였으며, 본 연구의 수요 및 혼잡도 예측 결과는 예측 기반 운영 및 혼잡 관리에 활용될 수 있음</a:t>
            </a:r>
          </a:p>
        </p:txBody>
      </p:sp>
      <p:sp>
        <p:nvSpPr>
          <p:cNvPr id="5049" name="TextBox 5048"/>
          <p:cNvSpPr txBox="1"/>
          <p:nvPr/>
        </p:nvSpPr>
        <p:spPr>
          <a:xfrm>
            <a:off x="15430181" y="39069537"/>
            <a:ext cx="1400187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000" b="1" i="0">
                <a:solidFill>
                  <a:srgbClr val="1F4EA8"/>
                </a:solidFill>
                <a:latin typeface="Times New Roman"/>
                <a:ea typeface="돋움"/>
                <a:cs typeface="Times New Roman"/>
              </a:rPr>
              <a:t>· 참고문헌</a:t>
            </a:r>
          </a:p>
        </p:txBody>
      </p:sp>
      <p:sp>
        <p:nvSpPr>
          <p:cNvPr id="5050" name="TextBox 5049"/>
          <p:cNvSpPr txBox="1"/>
          <p:nvPr/>
        </p:nvSpPr>
        <p:spPr>
          <a:xfrm>
            <a:off x="15430181" y="39621987"/>
            <a:ext cx="14001879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1900" b="0" i="0">
                <a:latin typeface="Times New Roman"/>
                <a:ea typeface="돋움"/>
                <a:cs typeface="Times New Roman"/>
              </a:rPr>
              <a:t>- Box, G. E. P., Jenkins, G. M., Reinsel, G. C. and Ljung, G. M. (2015). Time Series Analysis: Forecasting and Control (5th ed.). Wiley.</a:t>
            </a:r>
          </a:p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1900" b="0" i="0">
                <a:latin typeface="Times New Roman"/>
                <a:ea typeface="돋움"/>
                <a:cs typeface="Times New Roman"/>
              </a:rPr>
              <a:t>- Breiman, L. (2001). Random forests. Machine Learning, 45, 5–32.</a:t>
            </a:r>
          </a:p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1900" b="0" i="0">
                <a:latin typeface="Times New Roman"/>
                <a:ea typeface="돋움"/>
                <a:cs typeface="Times New Roman"/>
              </a:rPr>
              <a:t>- Goodfellow, I., Bengio, Y. and Courville, A. (2016). Deep Learning. MIT Press.</a:t>
            </a:r>
          </a:p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1900" b="0" i="0">
                <a:latin typeface="Times New Roman"/>
                <a:ea typeface="돋움"/>
                <a:cs typeface="Times New Roman"/>
              </a:rPr>
              <a:t>- Hochreiter, S. and Schmidhuber, J. (1997). Long short-term memory. Neural Computation, 9, 1735–1780.</a:t>
            </a:r>
          </a:p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1900" b="0" i="0">
                <a:latin typeface="Times New Roman"/>
                <a:ea typeface="돋움"/>
                <a:cs typeface="Times New Roman"/>
              </a:rPr>
              <a:t>- LeCun, Y., Bottou, L., Bengio, Y. and Haffner, P. (1998). Gradient-based learning applied to document recognition. Proceedings of the IEEE, 86, 2278–2324.</a:t>
            </a:r>
          </a:p>
          <a:p>
            <a:pPr marL="329184" indent="-329184" algn="l">
              <a:lnSpc>
                <a:spcPct val="105000"/>
              </a:lnSpc>
              <a:spcBef>
                <a:spcPts val="0"/>
              </a:spcBef>
            </a:pPr>
            <a:r>
              <a:rPr lang="ko-KR" altLang="en-US" sz="1900" b="0" i="0">
                <a:latin typeface="Times New Roman"/>
                <a:ea typeface="돋움"/>
                <a:cs typeface="Times New Roman"/>
              </a:rPr>
              <a:t>- Sundararajan, M., Taly, A. and Yan, Q. (2017). Axiomatic attribution for deep networks. Proceedings of the 34th ICML, 3319–3328.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3250</TotalTime>
  <Words>1416</Words>
  <Application>Microsoft Office PowerPoint</Application>
  <PresentationFormat>사용자 지정</PresentationFormat>
  <Paragraphs>147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돋움</vt:lpstr>
      <vt:lpstr>Arial</vt:lpstr>
      <vt:lpstr>Cambria Math</vt:lpstr>
      <vt:lpstr>Times New Roman</vt:lpstr>
      <vt:lpstr>기본 디자인</vt:lpstr>
      <vt:lpstr>PowerPoint 프레젠테이션</vt:lpstr>
    </vt:vector>
  </TitlesOfParts>
  <Company>비모수함수추정연구실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nai3</dc:creator>
  <cp:lastModifiedBy>PKNU</cp:lastModifiedBy>
  <cp:revision>191</cp:revision>
  <cp:lastPrinted>2025-12-10T07:15:33Z</cp:lastPrinted>
  <dcterms:created xsi:type="dcterms:W3CDTF">2005-11-30T02:47:13Z</dcterms:created>
  <dcterms:modified xsi:type="dcterms:W3CDTF">2026-10-26T08:51:54Z</dcterms:modified>
</cp:coreProperties>
</file>