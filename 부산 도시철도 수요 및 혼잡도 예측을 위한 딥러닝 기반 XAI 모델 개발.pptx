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8132" autoAdjust="0"/>
  </p:normalViewPr>
  <p:slideViewPr>
    <p:cSldViewPr snapToGrid="0" snapToObjects="1">
      <p:cViewPr varScale="1">
        <p:scale>
          <a:sx n="85" d="100"/>
          <a:sy n="85" d="100"/>
        </p:scale>
        <p:origin x="30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812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부산 도시철도 1-4호선의 일별 승차수요를 LSTM-DNN으로 예측하고, Integrated Gradients와 permutation importance로 예측요인을 해석한 연구입니다. 2025년 Test에서 MAPE 5.36%, R² 0.9886을 기록했습니다.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도시철도 수요는 요일, 공휴일, 장기 이용 패턴에 따라 복잡하게 움직여 통계적 시계열 모형만으로는 한계가 있습니다. 그래서 승차인원 자체가 아니라 전년 동일일 대비 로그 증감을 예측하는 LSTM-DNN을 제안했고, 기존 모형과 비교한 뒤 XAI로 예측요인을 </a:t>
            </a:r>
            <a:r>
              <a:rPr lang="en-US" dirty="0" err="1"/>
              <a:t>해석했습니다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2018-2023년으로 학습하고 2024년으로 LOOKBACK과 epoch을 고른 뒤, 2018-2024년 전체로 재학습했습니다. 2025년은 최종 평가와 XAI에만 썼습니다. 예측 target은 전년 동일일 대비 로그 증감이며, 예측값을 전년도 승차량에 다시 결합해 승차수요를 복원합니다.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DNN static branch에는 수요 수준, 직전 연도 증감 방향, 달력, 추세·코로나, 호선 정보가 들어갑니다. 요일과 월은 sin/cos로 순환 표현해 일요일과 월요일, 12월과 1월이 가깝게 연결되도록 했습니다. LSTM branch에는 예측일 1년 전 시점까지의 실제 승차 시계열이 </a:t>
            </a:r>
            <a:r>
              <a:rPr lang="en-US" dirty="0" err="1"/>
              <a:t>들어갑니다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4개 호선을 하나로 학습하는 global model입니다. LSTM branch는 예측일 1년 전까지 84일의 승차 시계열을 호선별로 log1p 후 표준화해 받고, LSTM 64 units, Dropout 0.15, Dense 32를 거칩니다. DNN branch는 정적 변수 21개를 받아 Dense 64, BatchNorm과 Dropout, Dense 32를 거칩니다. 두 32차원 표현을 이어 붙인 뒤 Dense 64, Dropout, Dense 32, Dense 1로 표준화된 로그 증감을 출력하고, 역변환 후 전년 동일일 승차량에 결합해 수요를 복원합니다. LOOKBACK은 28, 56, 84일 중 2024 validation RMSE가 가장 낮은 84일을 선택했습니다.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Integrated Gradients는 입력을 기준점에서 실제 값까지 조금씩 바꿔 가며 예측의 기울기를 모아, 각 변수가 예측값을 얼마나 움직였는지 나눠 주는 방법입니다. 모든 변수의 기여도를 더하면 실제 예측과 기준점 예측의 차이와 같아집니다. 이 연구에서 기준점은 표준화 기준 0, 즉 학습자료 평균 수준입니다. Permutation importance는 한 변수의 값을 무작위로 섞어 그 정보를 없앴을 때 오차가 얼마나 커지는지로 중요도를 재는 방법입니다. 두 방법 모두 인과효과가 아니라 학습된 모델에 대한 설명입니다.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LSTM-DNN은 RMSE 18,013, MAPE 5.36%로 네 모형 중 가장 좋습니다. DNN 단독도 근접하지만 MAPE에서 2%p 차이가 나고, LSTM 단독과 ARIMA는 오차가 두세 배입니다. 호선별로는 MAPE가 4.7-6.1%로 고르게 안정적이며, 4호선 R²가 0.91로 가장 높습니다.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공통점: 두 방법 모두 비근무일·주말·요일 패턴과 prev_log_growth를 중요한 정보로 평가합니다. 차이점: covid는 IG에서 높지만 permutation에서는 거의 0입니다. 다른 변수와의 상관·대체가능성이나 IG baseline 특성 때문일 수 있어, 두 방법을 함께 보는 것이 </a:t>
            </a:r>
            <a:r>
              <a:rPr lang="en-US" dirty="0" err="1"/>
              <a:t>안전합니다</a:t>
            </a:r>
            <a:r>
              <a:rPr lang="en-US" dirty="0"/>
              <a:t>. IG는 인과효과가 아니라 학습된 모델의 예측 기여도라는 점도 덧붙입니다.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IG로 보면 DNN static branch의 총 attribution이 LSTM보다 두 배 이상 큽니다. 하지만 branch 전체를 섞어보면 두 branch 모두 RMSE가 약 4.7-5.0만 수준으로 비슷하게 증가합니다. 정적 변수가 변화량 조정의 방향을 설명하고, 시계열 branch도 정확도에 필수적이라고 정리할 수 있습니다. IG 막대 비율은 입력 차원 수와 합산 방식의 영향을 받으므로 정확한 기여율로 해석하지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저장된 LSTM-DNN에 2025년 실제 승차량을 전년도 기준 정보로 넣어 2026년을 전망했습니다. 네 호선 모두 기존 패턴과 규모 차이가 </a:t>
            </a:r>
            <a:r>
              <a:rPr lang="en-US" dirty="0" err="1"/>
              <a:t>유지됩니다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0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26480"/>
            <a:ext cx="10566400" cy="451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0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26480"/>
            <a:ext cx="10566400" cy="451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47080"/>
            <a:ext cx="10883392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000" b="1" i="0" dirty="0">
                <a:solidFill>
                  <a:srgbClr val="F4F6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 도시철도 수요 및 혼잡도 예측을 위한</a:t>
            </a:r>
            <a:endParaRPr lang="en-US" sz="4000" dirty="0"/>
          </a:p>
          <a:p>
            <a:pPr marL="0" indent="0" algn="l">
              <a:lnSpc>
                <a:spcPts val="4800"/>
              </a:lnSpc>
              <a:buNone/>
            </a:pPr>
            <a:r>
              <a:rPr lang="en-US" sz="4000" b="1" i="0" dirty="0">
                <a:solidFill>
                  <a:srgbClr val="F4F6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 기반 XAI 모델 개발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배경과 목적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504255"/>
            <a:ext cx="3380284" cy="2423616"/>
          </a:xfrm>
          <a:prstGeom prst="roundRect">
            <a:avLst>
              <a:gd name="adj" fmla="val 4061"/>
            </a:avLst>
          </a:prstGeom>
          <a:solidFill>
            <a:srgbClr val="FDFDFE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7750" y="1736030"/>
            <a:ext cx="30042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6A74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7750" y="2050951"/>
            <a:ext cx="300423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변동이 복잡하다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7750" y="2416671"/>
            <a:ext cx="3004236" cy="1048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도시철도 수요는 요일, 공휴일, 장기적 이용 패턴 변화에 따라 복잡하게 변동한다. 기존 통계적 시계열 모형만으로는 충분히 설명하기 어렵다.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05809" y="1504255"/>
            <a:ext cx="3380383" cy="2423616"/>
          </a:xfrm>
          <a:prstGeom prst="roundRect">
            <a:avLst>
              <a:gd name="adj" fmla="val 4061"/>
            </a:avLst>
          </a:prstGeom>
          <a:solidFill>
            <a:srgbClr val="FDFDFE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7584" y="1736030"/>
            <a:ext cx="300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37584" y="2050951"/>
            <a:ext cx="3004338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LSTM-DNN 결합 모형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37584" y="2416671"/>
            <a:ext cx="3004338" cy="1048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예측의 오차 누적을 줄이도록 전년 동일일 대비 로그 증감을 예측한다. 전년도 승차 시계열은 LSTM, 승차량·요일·공휴일·호선은 DNN으로 학습해 결합한다.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95741" y="1504255"/>
            <a:ext cx="3380284" cy="2423616"/>
          </a:xfrm>
          <a:prstGeom prst="roundRect">
            <a:avLst>
              <a:gd name="adj" fmla="val 4061"/>
            </a:avLst>
          </a:prstGeom>
          <a:solidFill>
            <a:srgbClr val="FDFDFE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7516" y="1736030"/>
            <a:ext cx="30042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9A5B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평가와 해석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7516" y="2050951"/>
            <a:ext cx="3004236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 비교 + XAI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7516" y="2416671"/>
            <a:ext cx="3004236" cy="1304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ARIMA·DNN·LSTM과 성능을 비교하고, Integrated Gradients와 permutation importance로 예측요인을 </a:t>
            </a:r>
            <a:r>
              <a:rPr lang="en-US" sz="13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해석한다</a:t>
            </a: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4261247"/>
            <a:ext cx="662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A74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주요용어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75284" y="4210447"/>
            <a:ext cx="1435298" cy="314920"/>
          </a:xfrm>
          <a:prstGeom prst="roundRect">
            <a:avLst>
              <a:gd name="adj" fmla="val 50000"/>
            </a:avLst>
          </a:prstGeom>
          <a:solidFill>
            <a:srgbClr val="E3EC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도시철도 수요예측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2182" y="4210447"/>
            <a:ext cx="660003" cy="314920"/>
          </a:xfrm>
          <a:prstGeom prst="roundRect">
            <a:avLst>
              <a:gd name="adj" fmla="val 50000"/>
            </a:avLst>
          </a:prstGeom>
          <a:solidFill>
            <a:srgbClr val="E3EC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LSTM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73785" y="4210447"/>
            <a:ext cx="980480" cy="314920"/>
          </a:xfrm>
          <a:prstGeom prst="roundRect">
            <a:avLst>
              <a:gd name="adj" fmla="val 50000"/>
            </a:avLst>
          </a:prstGeom>
          <a:solidFill>
            <a:srgbClr val="E3EC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심층신경망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55865" y="4210447"/>
            <a:ext cx="1575495" cy="314920"/>
          </a:xfrm>
          <a:prstGeom prst="roundRect">
            <a:avLst>
              <a:gd name="adj" fmla="val 50000"/>
            </a:avLst>
          </a:prstGeom>
          <a:solidFill>
            <a:srgbClr val="E3EC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설명가능한 인공지능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2959" y="4210447"/>
            <a:ext cx="700088" cy="314920"/>
          </a:xfrm>
          <a:prstGeom prst="roundRect">
            <a:avLst>
              <a:gd name="adj" fmla="val 50000"/>
            </a:avLst>
          </a:prstGeom>
          <a:solidFill>
            <a:srgbClr val="E3ECF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혼잡도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 도시철도 수요 및 혼잡도 예측을 위한 딥러닝 기반 XAI 모델 개발 ·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분할과 예측 target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501080"/>
            <a:ext cx="7467600" cy="477441"/>
          </a:xfrm>
          <a:prstGeom prst="roundRect">
            <a:avLst>
              <a:gd name="adj" fmla="val 13300"/>
            </a:avLst>
          </a:prstGeom>
          <a:solidFill>
            <a:srgbClr val="2E6FD8"/>
          </a:solidFill>
          <a:ln/>
        </p:spPr>
        <p:txBody>
          <a:bodyPr wrap="square" lIns="133801" tIns="95701" rIns="0" bIns="70301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· 2018-01 ~ 2023-12 · 가중치 학습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331200" y="1501080"/>
            <a:ext cx="1498600" cy="477441"/>
          </a:xfrm>
          <a:prstGeom prst="roundRect">
            <a:avLst>
              <a:gd name="adj" fmla="val 13300"/>
            </a:avLst>
          </a:prstGeom>
          <a:solidFill>
            <a:srgbClr val="8FB8FF"/>
          </a:solidFill>
          <a:ln/>
        </p:spPr>
        <p:txBody>
          <a:bodyPr wrap="square" lIns="133801" tIns="95701" rIns="83001" bIns="70301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 2024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880600" y="1501080"/>
            <a:ext cx="1498600" cy="477441"/>
          </a:xfrm>
          <a:prstGeom prst="roundRect">
            <a:avLst>
              <a:gd name="adj" fmla="val 13300"/>
            </a:avLst>
          </a:prstGeom>
          <a:solidFill>
            <a:srgbClr val="F0A04B"/>
          </a:solidFill>
          <a:ln/>
        </p:spPr>
        <p:txBody>
          <a:bodyPr wrap="square" lIns="133801" tIns="95701" rIns="83001" bIns="70301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2025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9150" y="2061071"/>
            <a:ext cx="8963025" cy="353020"/>
          </a:xfrm>
          <a:prstGeom prst="roundRect">
            <a:avLst>
              <a:gd name="adj" fmla="val 16189"/>
            </a:avLst>
          </a:prstGeom>
          <a:noFill/>
          <a:ln w="12700">
            <a:solidFill>
              <a:srgbClr val="2E6FD8"/>
            </a:solidFill>
            <a:prstDash val="dash"/>
          </a:ln>
        </p:spPr>
        <p:txBody>
          <a:bodyPr wrap="square" lIns="142011" tIns="53111" rIns="0" bIns="2771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fit 2018 ~ 2024 — Validation에서 LOOKBACK 84일·epoch 19 선택 후 전체 재학습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91725" y="2118221"/>
            <a:ext cx="12858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평가·XAI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975" y="2703016"/>
            <a:ext cx="5124450" cy="2311301"/>
          </a:xfrm>
          <a:prstGeom prst="roundRect">
            <a:avLst>
              <a:gd name="adj" fmla="val 4258"/>
            </a:avLst>
          </a:prstGeom>
          <a:solidFill>
            <a:srgbClr val="FDFDFE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3150" y="2960191"/>
            <a:ext cx="474840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target: 전년 동일일 대비 로그 증감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3150" y="3330972"/>
            <a:ext cx="4610100" cy="556220"/>
          </a:xfrm>
          <a:prstGeom prst="roundRect">
            <a:avLst>
              <a:gd name="adj" fmla="val 11416"/>
            </a:avLst>
          </a:prstGeom>
          <a:solidFill>
            <a:srgbClr val="EEF2F7"/>
          </a:solidFill>
          <a:ln/>
        </p:spPr>
        <p:txBody>
          <a:bodyPr wrap="square" lIns="133801" tIns="108401" rIns="4642" bIns="83001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g(t) = log(1 + Y(t)) − log(1 + Y(t − 1년))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73150" y="4014192"/>
            <a:ext cx="4748403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승차량을 직접 맞히지 않고 증감량을 예측한 뒤, 전년도 동일 날짜 승차량에 결합해 수요를 복원한다. 장기 예측에서 오차 누적을 줄이기 위한 설계다.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1575" y="2703016"/>
            <a:ext cx="5124450" cy="2311301"/>
          </a:xfrm>
          <a:prstGeom prst="roundRect">
            <a:avLst>
              <a:gd name="adj" fmla="val 4258"/>
            </a:avLst>
          </a:prstGeom>
          <a:solidFill>
            <a:srgbClr val="FDFDFE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8750" y="2960191"/>
            <a:ext cx="474840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개요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1394" y="3330972"/>
            <a:ext cx="4668139" cy="1304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1356" indent="-1813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대상: 부산 도시철도 1–4호선 일별 승차인원</a:t>
            </a:r>
            <a:endParaRPr lang="en-US" sz="1300" dirty="0"/>
          </a:p>
          <a:p>
            <a:pPr marL="181356" indent="-1813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원자료는 2016년부터, 2년 전 승차량과 직전 연도 증감률을 쓰므로 학습 target은 2018년부터</a:t>
            </a:r>
            <a:endParaRPr lang="en-US" sz="1300" dirty="0"/>
          </a:p>
          <a:p>
            <a:pPr marL="181356" indent="-181356" algn="l">
              <a:lnSpc>
                <a:spcPts val="2015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실제값은 학습·모델 선택에 쓰지 않고 최종 평가와 XAI에만 사용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 도시철도 수요 및 혼잡도 예측을 위한 딥러닝 기반 XAI 모델 개발 ·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변수: DNN 정적 변수 21개 + LSTM 시계열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53455"/>
            <a:ext cx="3380284" cy="2162473"/>
          </a:xfrm>
          <a:prstGeom prst="roundRect">
            <a:avLst>
              <a:gd name="adj" fmla="val 3964"/>
            </a:avLst>
          </a:prstGeom>
          <a:solidFill>
            <a:srgbClr val="FDFDFE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6950" y="1609030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수준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96950" y="1911251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board_y1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6950" y="2155031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전년도 동일 날짜 승차량 (기본 수준)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6950" y="2457252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board_y2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6950" y="2701032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2년 전 동일 날짜 승차량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6950" y="3003252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board_y1_roll7 / roll28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6950" y="3247033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전년도 동일 시점 7일·28일 평균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975" y="3774678"/>
            <a:ext cx="3380284" cy="1070471"/>
          </a:xfrm>
          <a:prstGeom prst="roundRect">
            <a:avLst>
              <a:gd name="adj" fmla="val 8008"/>
            </a:avLst>
          </a:prstGeom>
          <a:solidFill>
            <a:srgbClr val="FDFDFE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950" y="3930253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증감 방향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96950" y="4232473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prev_log_growth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6950" y="4476254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전년도와 전전년도의 로그 증감 차이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05809" y="1453455"/>
            <a:ext cx="3380284" cy="3800475"/>
          </a:xfrm>
          <a:prstGeom prst="roundRect">
            <a:avLst>
              <a:gd name="adj" fmla="val 2536"/>
            </a:avLst>
          </a:prstGeom>
          <a:solidFill>
            <a:srgbClr val="FDFDFE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6784" y="1609030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86784" y="1911251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is_offday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86784" y="2155031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비근무일 (주말 또는 공휴일)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86784" y="2457252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is_weekend · is_friday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86784" y="2701032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 여부 · 금요일 여부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86784" y="3003252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holiday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86784" y="3247033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법정 공휴일 여부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86784" y="3549253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before_ / after_holiday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86784" y="3793034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공휴일 전날 · 다음날 (연휴 전후 효과)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86784" y="4095254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dow_sin / dow_cos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86784" y="4339034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요일 순환 표현 (일–월 연결)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86784" y="4641255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month_sin / month_cos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86784" y="4885035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순환 표현 (12월–1월 연결)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95642" y="1453455"/>
            <a:ext cx="3380284" cy="2162473"/>
          </a:xfrm>
          <a:prstGeom prst="roundRect">
            <a:avLst>
              <a:gd name="adj" fmla="val 3964"/>
            </a:avLst>
          </a:prstGeom>
          <a:solidFill>
            <a:srgbClr val="FDFDFE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76617" y="1609030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추세 · 구조 · 호선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76617" y="1911251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trend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76617" y="2155031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시작일(2016년) 기준 경과 일수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76617" y="2457252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covid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76617" y="2701032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2020-02-01 ~ 2022-04-17 구간 여부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76617" y="3003252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line_1 ~ line_4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76617" y="3247033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호선 one-hot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95642" y="3774678"/>
            <a:ext cx="3380284" cy="1070570"/>
          </a:xfrm>
          <a:prstGeom prst="roundRect">
            <a:avLst>
              <a:gd name="adj" fmla="val 8007"/>
            </a:avLst>
          </a:prstGeom>
          <a:solidFill>
            <a:srgbClr val="E3ECFB"/>
          </a:solidFill>
          <a:ln w="6350">
            <a:solidFill>
              <a:srgbClr val="C9D9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76617" y="3930253"/>
            <a:ext cx="31088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LSTM 입력 (시계열)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176617" y="4232473"/>
            <a:ext cx="310888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예측일의 정확히 1년 전 시점까지 84일의 실제 승차 시계열 (호선별 log1p 후 표준화)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210032" y="6238280"/>
            <a:ext cx="2199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LSTM-DNN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654175"/>
            <a:ext cx="1771650" cy="882650"/>
          </a:xfrm>
          <a:prstGeom prst="roundRect">
            <a:avLst>
              <a:gd name="adj" fmla="val 8273"/>
            </a:avLst>
          </a:prstGeom>
          <a:solidFill>
            <a:srgbClr val="FDFDFE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6150" y="1762820"/>
            <a:ext cx="1562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LSTM branch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46150" y="1988840"/>
            <a:ext cx="1562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승차 시계열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46150" y="2214860"/>
            <a:ext cx="1562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84일 · log1p 표준화</a:t>
            </a:r>
            <a:endParaRPr lang="en-US" sz="12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67000" y="2025650"/>
            <a:ext cx="228600" cy="1397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74975" y="1654175"/>
            <a:ext cx="1200150" cy="882650"/>
          </a:xfrm>
          <a:prstGeom prst="roundRect">
            <a:avLst>
              <a:gd name="adj" fmla="val 8273"/>
            </a:avLst>
          </a:prstGeom>
          <a:solidFill>
            <a:srgbClr val="DCE8FB"/>
          </a:solidFill>
          <a:ln w="6350">
            <a:solidFill>
              <a:srgbClr val="C9D9F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9750" y="1869480"/>
            <a:ext cx="1041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LSTM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079750" y="2108200"/>
            <a:ext cx="1041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64 units</a:t>
            </a:r>
            <a:endParaRPr lang="en-US" sz="1200" dirty="0"/>
          </a:p>
        </p:txBody>
      </p:sp>
      <p:pic>
        <p:nvPicPr>
          <p:cNvPr id="11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54500" y="2025650"/>
            <a:ext cx="228600" cy="1397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65650" y="1657350"/>
            <a:ext cx="1193800" cy="876300"/>
          </a:xfrm>
          <a:prstGeom prst="roundRect">
            <a:avLst>
              <a:gd name="adj" fmla="val 7971"/>
            </a:avLst>
          </a:prstGeom>
          <a:solidFill>
            <a:srgbClr val="FDFDFE"/>
          </a:solidFill>
          <a:ln w="12700">
            <a:solidFill>
              <a:srgbClr val="B7C3D6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4673600" y="1869480"/>
            <a:ext cx="1028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Dropout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73600" y="2108200"/>
            <a:ext cx="1028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0.15</a:t>
            </a:r>
            <a:endParaRPr lang="en-US" sz="1200" dirty="0"/>
          </a:p>
        </p:txBody>
      </p:sp>
      <p:pic>
        <p:nvPicPr>
          <p:cNvPr id="15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42000" y="2025650"/>
            <a:ext cx="228600" cy="1397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49975" y="1654175"/>
            <a:ext cx="1200150" cy="882650"/>
          </a:xfrm>
          <a:prstGeom prst="roundRect">
            <a:avLst>
              <a:gd name="adj" fmla="val 8273"/>
            </a:avLst>
          </a:prstGeom>
          <a:solidFill>
            <a:srgbClr val="DCE8FB"/>
          </a:solidFill>
          <a:ln w="6350">
            <a:solidFill>
              <a:srgbClr val="C9D9F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254750" y="1869480"/>
            <a:ext cx="1041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Dense 32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54750" y="2108200"/>
            <a:ext cx="1041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341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ReLU · h_seq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5975" y="2987675"/>
            <a:ext cx="1771650" cy="882650"/>
          </a:xfrm>
          <a:prstGeom prst="roundRect">
            <a:avLst>
              <a:gd name="adj" fmla="val 8273"/>
            </a:avLst>
          </a:prstGeom>
          <a:solidFill>
            <a:srgbClr val="FDFDFE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46150" y="3096320"/>
            <a:ext cx="1562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9A5B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DNN branch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46150" y="3322340"/>
            <a:ext cx="1562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변수 21개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46150" y="3548360"/>
            <a:ext cx="1562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</a:t>
            </a:r>
            <a:endParaRPr lang="en-US" sz="1200" dirty="0"/>
          </a:p>
        </p:txBody>
      </p:sp>
      <p:pic>
        <p:nvPicPr>
          <p:cNvPr id="23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67000" y="3359150"/>
            <a:ext cx="228600" cy="1397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2974975" y="2987675"/>
            <a:ext cx="1200150" cy="882650"/>
          </a:xfrm>
          <a:prstGeom prst="roundRect">
            <a:avLst>
              <a:gd name="adj" fmla="val 8273"/>
            </a:avLst>
          </a:prstGeom>
          <a:solidFill>
            <a:srgbClr val="FCEFE0"/>
          </a:solidFill>
          <a:ln w="6350">
            <a:solidFill>
              <a:srgbClr val="F3D9B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79750" y="3202980"/>
            <a:ext cx="1041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Dense 64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079750" y="3441700"/>
            <a:ext cx="1041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ReLU</a:t>
            </a:r>
            <a:endParaRPr lang="en-US" sz="1200" dirty="0"/>
          </a:p>
        </p:txBody>
      </p:sp>
      <p:pic>
        <p:nvPicPr>
          <p:cNvPr id="27" name="Image 4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54500" y="3359150"/>
            <a:ext cx="228600" cy="13970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565650" y="2990850"/>
            <a:ext cx="1193800" cy="876300"/>
          </a:xfrm>
          <a:prstGeom prst="roundRect">
            <a:avLst>
              <a:gd name="adj" fmla="val 7971"/>
            </a:avLst>
          </a:prstGeom>
          <a:solidFill>
            <a:srgbClr val="FDFDFE"/>
          </a:solidFill>
          <a:ln w="12700">
            <a:solidFill>
              <a:srgbClr val="B7C3D6"/>
            </a:solidFill>
            <a:prstDash val="dash"/>
          </a:ln>
        </p:spPr>
      </p:sp>
      <p:sp>
        <p:nvSpPr>
          <p:cNvPr id="29" name="Text 22"/>
          <p:cNvSpPr/>
          <p:nvPr/>
        </p:nvSpPr>
        <p:spPr>
          <a:xfrm>
            <a:off x="4673600" y="3210620"/>
            <a:ext cx="10287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BatchNorm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673600" y="3434060"/>
            <a:ext cx="1028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Dropout 0.15</a:t>
            </a:r>
            <a:endParaRPr lang="en-US" sz="1200" dirty="0"/>
          </a:p>
        </p:txBody>
      </p:sp>
      <p:pic>
        <p:nvPicPr>
          <p:cNvPr id="31" name="Image 5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42000" y="3359150"/>
            <a:ext cx="228600" cy="13970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6149975" y="2987675"/>
            <a:ext cx="1200150" cy="882650"/>
          </a:xfrm>
          <a:prstGeom prst="roundRect">
            <a:avLst>
              <a:gd name="adj" fmla="val 8273"/>
            </a:avLst>
          </a:prstGeom>
          <a:solidFill>
            <a:srgbClr val="FCEFE0"/>
          </a:solidFill>
          <a:ln w="6350">
            <a:solidFill>
              <a:srgbClr val="F3D9B8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254750" y="3096320"/>
            <a:ext cx="1041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Dense 32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254750" y="3335040"/>
            <a:ext cx="1041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3A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ReLU · h_static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7740650" y="2387600"/>
            <a:ext cx="1130300" cy="749300"/>
          </a:xfrm>
          <a:prstGeom prst="roundRect">
            <a:avLst>
              <a:gd name="adj" fmla="val 9322"/>
            </a:avLst>
          </a:prstGeom>
          <a:solidFill>
            <a:srgbClr val="FDFDF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7835900" y="2543870"/>
            <a:ext cx="990600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Concat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7835900" y="2767310"/>
            <a:ext cx="990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 + 32 = 64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9286875" y="1654175"/>
            <a:ext cx="2089150" cy="412750"/>
          </a:xfrm>
          <a:prstGeom prst="roundRect">
            <a:avLst>
              <a:gd name="adj" fmla="val 14615"/>
            </a:avLst>
          </a:prstGeom>
          <a:solidFill>
            <a:srgbClr val="E3E9F2"/>
          </a:solidFill>
          <a:ln w="6350">
            <a:solidFill>
              <a:srgbClr val="CBD4E1"/>
            </a:solidFill>
            <a:prstDash val="solid"/>
          </a:ln>
        </p:spPr>
        <p:txBody>
          <a:bodyPr wrap="square" lIns="112506" tIns="0" rIns="57642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Dense 64 · ReLU</a:t>
            </a:r>
            <a:endParaRPr lang="en-US" sz="1300" dirty="0"/>
          </a:p>
        </p:txBody>
      </p:sp>
      <p:pic>
        <p:nvPicPr>
          <p:cNvPr id="39" name="Image 6" descr="arrow-down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261600" y="2120900"/>
            <a:ext cx="139700" cy="15240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290050" y="2330450"/>
            <a:ext cx="2082800" cy="406400"/>
          </a:xfrm>
          <a:prstGeom prst="roundRect">
            <a:avLst>
              <a:gd name="adj" fmla="val 14063"/>
            </a:avLst>
          </a:prstGeom>
          <a:solidFill>
            <a:srgbClr val="FDFDFE"/>
          </a:solidFill>
          <a:ln w="12700">
            <a:solidFill>
              <a:srgbClr val="B7C3D6"/>
            </a:solidFill>
            <a:prstDash val="dash"/>
          </a:ln>
        </p:spPr>
        <p:txBody>
          <a:bodyPr wrap="square" lIns="116611" tIns="0" rIns="62128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Dropout 0.15</a:t>
            </a:r>
            <a:endParaRPr lang="en-US" sz="1300" dirty="0"/>
          </a:p>
        </p:txBody>
      </p:sp>
      <p:pic>
        <p:nvPicPr>
          <p:cNvPr id="41" name="Image 7" descr="arrow-down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261600" y="2794000"/>
            <a:ext cx="139700" cy="1524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86875" y="3000375"/>
            <a:ext cx="2089150" cy="412750"/>
          </a:xfrm>
          <a:prstGeom prst="roundRect">
            <a:avLst>
              <a:gd name="adj" fmla="val 14615"/>
            </a:avLst>
          </a:prstGeom>
          <a:solidFill>
            <a:srgbClr val="E3E9F2"/>
          </a:solidFill>
          <a:ln w="6350">
            <a:solidFill>
              <a:srgbClr val="CBD4E1"/>
            </a:solidFill>
            <a:prstDash val="solid"/>
          </a:ln>
        </p:spPr>
        <p:txBody>
          <a:bodyPr wrap="square" lIns="112506" tIns="0" rIns="57642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Dense 32 · ReLU</a:t>
            </a:r>
            <a:endParaRPr lang="en-US" sz="1300" dirty="0"/>
          </a:p>
        </p:txBody>
      </p:sp>
      <p:pic>
        <p:nvPicPr>
          <p:cNvPr id="43" name="Image 8" descr="arrow-down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261600" y="3467100"/>
            <a:ext cx="139700" cy="152400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9283700" y="3670300"/>
            <a:ext cx="2095500" cy="571500"/>
          </a:xfrm>
          <a:prstGeom prst="roundRect">
            <a:avLst>
              <a:gd name="adj" fmla="val 11111"/>
            </a:avLst>
          </a:prstGeom>
          <a:solidFill>
            <a:srgbClr val="14213D"/>
          </a:solidFill>
          <a:ln/>
        </p:spPr>
      </p:sp>
      <p:sp>
        <p:nvSpPr>
          <p:cNvPr id="45" name="Text 34"/>
          <p:cNvSpPr/>
          <p:nvPr/>
        </p:nvSpPr>
        <p:spPr>
          <a:xfrm>
            <a:off x="9410700" y="3727450"/>
            <a:ext cx="189674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6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Dense 1 · 출력</a:t>
            </a:r>
            <a:endParaRPr lang="en-US" sz="1300" dirty="0"/>
          </a:p>
        </p:txBody>
      </p:sp>
      <p:sp>
        <p:nvSpPr>
          <p:cNvPr id="46" name="Text 35"/>
          <p:cNvSpPr/>
          <p:nvPr/>
        </p:nvSpPr>
        <p:spPr>
          <a:xfrm>
            <a:off x="9410700" y="3971230"/>
            <a:ext cx="18967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C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표준화된 log-growth</a:t>
            </a:r>
            <a:endParaRPr lang="en-US" sz="1200" dirty="0"/>
          </a:p>
        </p:txBody>
      </p:sp>
      <p:pic>
        <p:nvPicPr>
          <p:cNvPr id="47" name="Image 9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78700" y="2044700"/>
            <a:ext cx="406400" cy="641350"/>
          </a:xfrm>
          <a:prstGeom prst="rect">
            <a:avLst/>
          </a:prstGeom>
        </p:spPr>
      </p:pic>
      <p:pic>
        <p:nvPicPr>
          <p:cNvPr id="48" name="Image 10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78700" y="2838450"/>
            <a:ext cx="406400" cy="641350"/>
          </a:xfrm>
          <a:prstGeom prst="rect">
            <a:avLst/>
          </a:prstGeom>
        </p:spPr>
      </p:pic>
      <p:pic>
        <p:nvPicPr>
          <p:cNvPr id="49" name="Image 11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826500" y="1809750"/>
            <a:ext cx="508000" cy="1003300"/>
          </a:xfrm>
          <a:prstGeom prst="rect">
            <a:avLst/>
          </a:prstGeom>
        </p:spPr>
      </p:pic>
      <p:pic>
        <p:nvPicPr>
          <p:cNvPr id="50" name="Image 12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280650" y="4203700"/>
            <a:ext cx="101600" cy="444500"/>
          </a:xfrm>
          <a:prstGeom prst="rect">
            <a:avLst/>
          </a:prstGeom>
        </p:spPr>
      </p:pic>
      <p:sp>
        <p:nvSpPr>
          <p:cNvPr id="51" name="Shape 36"/>
          <p:cNvSpPr/>
          <p:nvPr/>
        </p:nvSpPr>
        <p:spPr>
          <a:xfrm>
            <a:off x="812800" y="4597400"/>
            <a:ext cx="10566400" cy="990600"/>
          </a:xfrm>
          <a:prstGeom prst="roundRect">
            <a:avLst>
              <a:gd name="adj" fmla="val 8974"/>
            </a:avLst>
          </a:prstGeom>
          <a:solidFill>
            <a:srgbClr val="14213D"/>
          </a:solidFill>
          <a:ln/>
        </p:spPr>
      </p:sp>
      <p:sp>
        <p:nvSpPr>
          <p:cNvPr id="52" name="Text 37"/>
          <p:cNvSpPr/>
          <p:nvPr/>
        </p:nvSpPr>
        <p:spPr>
          <a:xfrm>
            <a:off x="1066800" y="4841180"/>
            <a:ext cx="8336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0A0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 복원</a:t>
            </a:r>
            <a:endParaRPr lang="en-US" sz="1400" dirty="0"/>
          </a:p>
        </p:txBody>
      </p:sp>
      <p:sp>
        <p:nvSpPr>
          <p:cNvPr id="53" name="Text 38"/>
          <p:cNvSpPr/>
          <p:nvPr/>
        </p:nvSpPr>
        <p:spPr>
          <a:xfrm>
            <a:off x="1964730" y="4805660"/>
            <a:ext cx="702611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4F6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growth scaler 역변환 → Ŷ(t) = exp( log(1 + Y(t − 1년)) + ĝ(t) ) − 1</a:t>
            </a:r>
            <a:endParaRPr lang="en-US" sz="1600" dirty="0"/>
          </a:p>
        </p:txBody>
      </p:sp>
      <p:sp>
        <p:nvSpPr>
          <p:cNvPr id="54" name="Text 39"/>
          <p:cNvSpPr/>
          <p:nvPr/>
        </p:nvSpPr>
        <p:spPr>
          <a:xfrm>
            <a:off x="1066800" y="5166320"/>
            <a:ext cx="103601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FCB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학습: Adam (lr 0.001) · MSE loss · batch 128 · EarlyStopping (patience 30) · LOOKBACK 84일 · 최종 epoch 19</a:t>
            </a:r>
            <a:endParaRPr lang="en-US" sz="1200" dirty="0"/>
          </a:p>
        </p:txBody>
      </p:sp>
      <p:sp>
        <p:nvSpPr>
          <p:cNvPr id="55" name="Text 4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 도시철도 수요 및 혼잡도 예측을 위한 딥러닝 기반 XAI 모델 개발 ·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XAI 방법의 정의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5975" y="1478855"/>
            <a:ext cx="5124450" cy="2682081"/>
          </a:xfrm>
          <a:prstGeom prst="roundRect">
            <a:avLst>
              <a:gd name="adj" fmla="val 3670"/>
            </a:avLst>
          </a:prstGeom>
          <a:solidFill>
            <a:srgbClr val="FDFDFE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710630"/>
            <a:ext cx="474840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Integrated Gradients (IG)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73150" y="2096691"/>
            <a:ext cx="4610100" cy="383480"/>
          </a:xfrm>
          <a:prstGeom prst="roundRect">
            <a:avLst>
              <a:gd name="adj" fmla="val 16559"/>
            </a:avLst>
          </a:prstGeom>
          <a:solidFill>
            <a:srgbClr val="E3ECFB"/>
          </a:solidFill>
          <a:ln/>
        </p:spPr>
        <p:txBody>
          <a:bodyPr wrap="square" lIns="108401" tIns="57601" rIns="0" bIns="322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입력변수가 예측값을 얼마나 움직였는가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3150" y="2607171"/>
            <a:ext cx="4610100" cy="452041"/>
          </a:xfrm>
          <a:prstGeom prst="roundRect">
            <a:avLst>
              <a:gd name="adj" fmla="val 14047"/>
            </a:avLst>
          </a:prstGeom>
          <a:solidFill>
            <a:srgbClr val="EEF2F7"/>
          </a:solidFill>
          <a:ln/>
        </p:spPr>
        <p:txBody>
          <a:bodyPr wrap="square" lIns="108401" tIns="83001" rIns="0" bIns="57601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IGᵢ(x) = (xᵢ − x′ᵢ) × ∫₀¹ ∂F(x′ + α(x − x′)) / ∂xᵢ dα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5794" y="3186212"/>
            <a:ext cx="4668139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1356" indent="-18135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기준점 x′에서 실제 입력 x까지 경로를 따라 기울기를 적분</a:t>
            </a:r>
            <a:endParaRPr lang="en-US" sz="1300" dirty="0"/>
          </a:p>
          <a:p>
            <a:pPr marL="181356" indent="-18135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변수의 기여도 합 = F(x) − F(x′)</a:t>
            </a:r>
            <a:endParaRPr lang="en-US" sz="1300" dirty="0"/>
          </a:p>
          <a:p>
            <a:pPr marL="181356" indent="-18135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값이 클수록 그 변수가 예측을 크게 움직임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1575" y="1478855"/>
            <a:ext cx="5124450" cy="2682081"/>
          </a:xfrm>
          <a:prstGeom prst="roundRect">
            <a:avLst>
              <a:gd name="adj" fmla="val 3670"/>
            </a:avLst>
          </a:prstGeom>
          <a:solidFill>
            <a:srgbClr val="FDFDFE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8750" y="1710630"/>
            <a:ext cx="474840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Permutation Importance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08750" y="2096691"/>
            <a:ext cx="4610100" cy="383480"/>
          </a:xfrm>
          <a:prstGeom prst="roundRect">
            <a:avLst>
              <a:gd name="adj" fmla="val 16559"/>
            </a:avLst>
          </a:prstGeom>
          <a:solidFill>
            <a:srgbClr val="FCEFE0"/>
          </a:solidFill>
          <a:ln/>
        </p:spPr>
        <p:txBody>
          <a:bodyPr wrap="square" lIns="108401" tIns="57601" rIns="0" bIns="322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9A5B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변수를 섞으면 정확도가 얼마나 떨어지는가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08750" y="2607171"/>
            <a:ext cx="4610100" cy="452041"/>
          </a:xfrm>
          <a:prstGeom prst="roundRect">
            <a:avLst>
              <a:gd name="adj" fmla="val 14047"/>
            </a:avLst>
          </a:prstGeom>
          <a:solidFill>
            <a:srgbClr val="EEF2F7"/>
          </a:solidFill>
          <a:ln/>
        </p:spPr>
        <p:txBody>
          <a:bodyPr wrap="square" lIns="108401" tIns="83001" rIns="0" bIns="57601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PIⱼ = RMSE(Xⱼ를 섞은 자료) − RMSE(X)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1394" y="3186212"/>
            <a:ext cx="4668139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1356" indent="-18135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변수의 값만 무작위로 섞어 결과와의 관계를 끊음</a:t>
            </a:r>
            <a:endParaRPr lang="en-US" sz="1300" dirty="0"/>
          </a:p>
          <a:p>
            <a:pPr marL="181356" indent="-18135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오차 증가량을 여러 번 반복해 평균</a:t>
            </a:r>
            <a:endParaRPr lang="en-US" sz="1300" dirty="0"/>
          </a:p>
          <a:p>
            <a:pPr marL="181356" indent="-18135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값이 클수록 정확도에 꼭 필요한 변수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4418112"/>
            <a:ext cx="10566400" cy="544116"/>
          </a:xfrm>
          <a:prstGeom prst="roundRect">
            <a:avLst>
              <a:gd name="adj" fmla="val 16338"/>
            </a:avLst>
          </a:prstGeom>
          <a:solidFill>
            <a:srgbClr val="1421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400" y="4574580"/>
            <a:ext cx="354608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0A0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97608" y="4570512"/>
            <a:ext cx="7930039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E3E9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IG는 모델 내부의 예측 기여도, permutation은 성능 기반 중요도를 본다. 둘 다 인과효과는 아니다.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 도시철도 수요 및 혼잡도 예측을 위한 딥러닝 기반 XAI 모델 개발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Test: LSTM-DNN이 비교 모형 중 오차가 가장 낮다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475680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모형 비교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28701"/>
          <a:ext cx="4914900" cy="1796355"/>
        </p:xfrm>
        <a:graphic>
          <a:graphicData uri="http://schemas.openxmlformats.org/drawingml/2006/table">
            <a:tbl>
              <a:tblPr/>
              <a:tblGrid>
                <a:gridCol w="1376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5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5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46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Model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RMSE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MAPE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WAPE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R²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LSTM-DNN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18,013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5.36%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4.73%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0.9886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DNN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18,861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7.37%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5.37%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0.9875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LSTM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36,979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12.50%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10.29%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0.9520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ARIMA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46,090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19.01%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14.97%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0.9254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853656"/>
            <a:ext cx="5075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LSTM-DNN 호선별</a:t>
            </a:r>
            <a:endParaRPr lang="en-US" sz="1400" dirty="0"/>
          </a:p>
        </p:txBody>
      </p:sp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4206677"/>
          <a:ext cx="4914900" cy="1077813"/>
        </p:xfrm>
        <a:graphic>
          <a:graphicData uri="http://schemas.openxmlformats.org/drawingml/2006/table">
            <a:tbl>
              <a:tblPr/>
              <a:tblGrid>
                <a:gridCol w="982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2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1호선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2호선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3호선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4호선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MAPE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4.74%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5.15%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6.12%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5.43%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R²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0.878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0.800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0.864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E2A44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0.910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12800" y="5411490"/>
            <a:ext cx="5075428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1·2호선은 수요 규모가 커서 RMSE는 크지만 상대오차는 낮다.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045200" y="1475680"/>
            <a:ext cx="5334000" cy="3778250"/>
          </a:xfrm>
          <a:prstGeom prst="roundRect">
            <a:avLst>
              <a:gd name="adj" fmla="val 2017"/>
            </a:avLst>
          </a:prstGeom>
          <a:solidFill>
            <a:srgbClr val="FDFDFE"/>
          </a:solidFill>
          <a:ln/>
        </p:spPr>
      </p:sp>
      <p:pic>
        <p:nvPicPr>
          <p:cNvPr id="9" name="Image 0" descr="1-4호선 2016-2024 관측 이력과 2025 Test 실제값·예측값 시계열"/>
          <p:cNvPicPr>
            <a:picLocks noChangeAspect="1"/>
          </p:cNvPicPr>
          <p:nvPr/>
        </p:nvPicPr>
        <p:blipFill>
          <a:blip r:embed="rId3"/>
          <a:srcRect l="-26" r="-26"/>
          <a:stretch/>
        </p:blipFill>
        <p:spPr>
          <a:xfrm>
            <a:off x="6051550" y="1482030"/>
            <a:ext cx="5321300" cy="3765550"/>
          </a:xfrm>
          <a:prstGeom prst="roundRect">
            <a:avLst>
              <a:gd name="adj" fmla="val 1855"/>
            </a:avLst>
          </a:prstGeom>
        </p:spPr>
      </p:pic>
      <p:sp>
        <p:nvSpPr>
          <p:cNvPr id="10" name="Shape 5"/>
          <p:cNvSpPr/>
          <p:nvPr/>
        </p:nvSpPr>
        <p:spPr>
          <a:xfrm>
            <a:off x="6048375" y="1478855"/>
            <a:ext cx="5327650" cy="3771900"/>
          </a:xfrm>
          <a:prstGeom prst="roundRect">
            <a:avLst>
              <a:gd name="adj" fmla="val 1936"/>
            </a:avLst>
          </a:prstGeom>
          <a:noFill/>
          <a:ln w="6350">
            <a:solidFill>
              <a:srgbClr val="E1E6EE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045200" y="5330130"/>
            <a:ext cx="54940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실제(주황)와 예측(초록)이 주중·주말 패턴까지 밀접하게 겹친다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 도시철도 수요 및 혼잡도 예측을 위한 딥러닝 기반 XAI 모델 개발 · 06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XAI 방법 모두 달력 효과를 최상위로 꼽는다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475680"/>
            <a:ext cx="52847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Integrated Gradients · 평균 |IG|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780480"/>
            <a:ext cx="5130800" cy="3175000"/>
          </a:xfrm>
          <a:prstGeom prst="roundRect">
            <a:avLst>
              <a:gd name="adj" fmla="val 2400"/>
            </a:avLst>
          </a:prstGeom>
          <a:solidFill>
            <a:srgbClr val="FDFDFE"/>
          </a:solidFill>
          <a:ln/>
        </p:spPr>
      </p:sp>
      <p:pic>
        <p:nvPicPr>
          <p:cNvPr id="5" name="Image 0" descr="DNN static branch 변수별 평균 절대 Integrated Gradients 막대그래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296" y="1786830"/>
            <a:ext cx="4865808" cy="3162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75" y="1783655"/>
            <a:ext cx="5124450" cy="3168650"/>
          </a:xfrm>
          <a:prstGeom prst="roundRect">
            <a:avLst>
              <a:gd name="adj" fmla="val 2305"/>
            </a:avLst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5031680"/>
            <a:ext cx="5284724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is_offday · is_weekend · dow_cos 순. covid도 상위권(학습기간 구조 대비 효과)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48400" y="1475680"/>
            <a:ext cx="52847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Permutation · RMSE 증가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48400" y="1780480"/>
            <a:ext cx="5130800" cy="3175000"/>
          </a:xfrm>
          <a:prstGeom prst="roundRect">
            <a:avLst>
              <a:gd name="adj" fmla="val 2400"/>
            </a:avLst>
          </a:prstGeom>
          <a:solidFill>
            <a:srgbClr val="FDFDFE"/>
          </a:solidFill>
          <a:ln/>
        </p:spPr>
      </p:sp>
      <p:pic>
        <p:nvPicPr>
          <p:cNvPr id="10" name="Image 1" descr="2025 Test set 변수별 permutation importance 막대그래프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382" y="1786830"/>
            <a:ext cx="4544835" cy="31623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51575" y="1783655"/>
            <a:ext cx="5124450" cy="3168650"/>
          </a:xfrm>
          <a:prstGeom prst="roundRect">
            <a:avLst>
              <a:gd name="adj" fmla="val 2305"/>
            </a:avLst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48400" y="5031680"/>
            <a:ext cx="5284724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is_offday · 요일 주기 · is_weekend · holiday 순. covid는 거의 0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 도시철도 수요 및 혼잡도 예측을 위한 딥러닝 기반 XAI 모델 개발 · 07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LSTM과 DNN branch는 상호보완적으로 작동한다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12800" y="1475680"/>
            <a:ext cx="52847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IG 기준 branch attribution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1780480"/>
            <a:ext cx="5130800" cy="2540000"/>
          </a:xfrm>
          <a:prstGeom prst="roundRect">
            <a:avLst>
              <a:gd name="adj" fmla="val 3000"/>
            </a:avLst>
          </a:prstGeom>
          <a:solidFill>
            <a:srgbClr val="FDFDFE"/>
          </a:solidFill>
          <a:ln/>
        </p:spPr>
      </p:sp>
      <p:pic>
        <p:nvPicPr>
          <p:cNvPr id="5" name="Image 0" descr="Integrated Gradients 기준 LSTM sequence와 DNN static branch 평균 총 attribution 막대그래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050" y="1786830"/>
            <a:ext cx="3834300" cy="25273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75" y="1783655"/>
            <a:ext cx="5124450" cy="2533650"/>
          </a:xfrm>
          <a:prstGeom prst="roundRect">
            <a:avLst>
              <a:gd name="adj" fmla="val 2882"/>
            </a:avLst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5975" y="4399855"/>
            <a:ext cx="5124450" cy="1159470"/>
          </a:xfrm>
          <a:prstGeom prst="roundRect">
            <a:avLst>
              <a:gd name="adj" fmla="val 6298"/>
            </a:avLst>
          </a:prstGeom>
          <a:solidFill>
            <a:srgbClr val="FDFDFE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96950" y="4555430"/>
            <a:ext cx="4905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DNN ≈0.49 · LSTM ≈0.21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96950" y="4961830"/>
            <a:ext cx="4905375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변수가 증감 방향을 강하게 설명. 단, 입력 차원 수 영향이 있어 비율을 기여율로 읽으면 안 된다.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48400" y="1475680"/>
            <a:ext cx="528472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Branch permutation · RMSE 증가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48400" y="1780480"/>
            <a:ext cx="5130800" cy="2540000"/>
          </a:xfrm>
          <a:prstGeom prst="roundRect">
            <a:avLst>
              <a:gd name="adj" fmla="val 3000"/>
            </a:avLst>
          </a:prstGeom>
          <a:solidFill>
            <a:srgbClr val="FDFDFE"/>
          </a:solidFill>
          <a:ln/>
        </p:spPr>
      </p:sp>
      <p:pic>
        <p:nvPicPr>
          <p:cNvPr id="12" name="Image 1" descr="DNN static과 LSTM sequence branch를 각각 permutation했을 때 RMSE 증가 막대그래프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772" y="1786830"/>
            <a:ext cx="3572057" cy="25273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51575" y="1783655"/>
            <a:ext cx="5124450" cy="2533650"/>
          </a:xfrm>
          <a:prstGeom prst="roundRect">
            <a:avLst>
              <a:gd name="adj" fmla="val 2882"/>
            </a:avLst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51575" y="4399855"/>
            <a:ext cx="5124450" cy="1159470"/>
          </a:xfrm>
          <a:prstGeom prst="roundRect">
            <a:avLst>
              <a:gd name="adj" fmla="val 6298"/>
            </a:avLst>
          </a:prstGeom>
          <a:solidFill>
            <a:srgbClr val="FDFDFE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32550" y="4555430"/>
            <a:ext cx="4905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DNN ≈5.0만 · LSTM ≈4.7만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432550" y="4961830"/>
            <a:ext cx="4905375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어느 branch를 섞어도 RMSE가 비슷하게 크게 늘어난다. 시계열 branch도 정확도에 필수.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 도시철도 수요 및 혼잡도 예측을 위한 딥러닝 기반 XAI 모델 개발 · 08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</a:t>
            </a:r>
            <a:r>
              <a:rPr lang="en-US" sz="2800" b="1" i="0" dirty="0" err="1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Prediction과</a:t>
            </a:r>
            <a:r>
              <a:rPr lang="en-US" sz="2800" b="1" i="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800" y="1475680"/>
            <a:ext cx="5588000" cy="3810000"/>
          </a:xfrm>
          <a:prstGeom prst="roundRect">
            <a:avLst>
              <a:gd name="adj" fmla="val 2000"/>
            </a:avLst>
          </a:prstGeom>
          <a:solidFill>
            <a:srgbClr val="FDFDFE"/>
          </a:solidFill>
          <a:ln/>
        </p:spPr>
      </p:sp>
      <p:pic>
        <p:nvPicPr>
          <p:cNvPr id="4" name="Image 0" descr="1-4호선 2026년 일별 승차수요 projection 시계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21" y="1482030"/>
            <a:ext cx="5363359" cy="3797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975" y="1478855"/>
            <a:ext cx="5581650" cy="3803650"/>
          </a:xfrm>
          <a:prstGeom prst="roundRect">
            <a:avLst>
              <a:gd name="adj" fmla="val 1920"/>
            </a:avLst>
          </a:prstGeom>
          <a:noFill/>
          <a:ln w="6350">
            <a:solidFill>
              <a:srgbClr val="E1E6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5361880"/>
            <a:ext cx="5755640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 호선 모두 2025년의 주간 반복·연중 수준·호선별 규모 차이를 유지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705600" y="2224618"/>
            <a:ext cx="48138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5B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705600" y="2529418"/>
            <a:ext cx="481380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E2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휴일·주말·요일 주기와 직전 연도 증감 방향이 핵심 예측정보이며, 정적·시계열 branch가 함께 정확도를 만든다.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05600" y="3217564"/>
            <a:ext cx="4673600" cy="695920"/>
          </a:xfrm>
          <a:prstGeom prst="roundRect">
            <a:avLst>
              <a:gd name="adj" fmla="val 9125"/>
            </a:avLst>
          </a:prstGeom>
          <a:solidFill>
            <a:srgbClr val="FCEFE0"/>
          </a:solidFill>
          <a:ln/>
        </p:spPr>
        <p:txBody>
          <a:bodyPr wrap="square" lIns="171901" tIns="108401" rIns="3880" bIns="83001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5A3A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2026 그림은 2025 평가용 파라미터를 그대로 쓴 </a:t>
            </a:r>
            <a:r>
              <a:rPr lang="en-US" sz="1200" dirty="0" err="1">
                <a:solidFill>
                  <a:srgbClr val="5A3A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prediction이다</a:t>
            </a:r>
            <a:r>
              <a:rPr lang="en-US" sz="1200" dirty="0">
                <a:solidFill>
                  <a:srgbClr val="5A3A1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05600" y="3217564"/>
            <a:ext cx="4673600" cy="695920"/>
          </a:xfrm>
          <a:custGeom>
            <a:avLst/>
            <a:gdLst/>
            <a:ahLst/>
            <a:cxnLst/>
            <a:rect l="l" t="t" r="r" b="b"/>
            <a:pathLst>
              <a:path w="4673600" h="695920">
                <a:moveTo>
                  <a:pt x="63500" y="695920"/>
                </a:moveTo>
                <a:lnTo>
                  <a:pt x="63500" y="69592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25400" hR="63500" stAng="16200000" swAng="-5400000"/>
                <a:lnTo>
                  <a:pt x="38100" y="632420"/>
                </a:lnTo>
                <a:arcTo wR="25400" hR="63500" stAng="10800000" swAng="-5400000"/>
                <a:close/>
              </a:path>
            </a:pathLst>
          </a:custGeom>
          <a:solidFill>
            <a:srgbClr val="F0A04B"/>
          </a:solidFill>
          <a:ln/>
        </p:spPr>
      </p:sp>
      <p:sp>
        <p:nvSpPr>
          <p:cNvPr id="13" name="Text 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4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 도시철도 수요 및 혼잡도 예측을 위한 딥러닝 기반 XAI 모델 개발 · 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부산 도시철도 수요 및 혼잡도 예측을 위한 딥러닝 기반 XAI 모델 개발">
  <a:themeElements>
    <a:clrScheme name="부산 도시철도 수요 및 혼잡도 예측을 위한 딥러닝 기반 XAI 모델 개발">
      <a:dk1>
        <a:srgbClr val="1E2A44"/>
      </a:dk1>
      <a:lt1>
        <a:srgbClr val="F7F8FA"/>
      </a:lt1>
      <a:dk2>
        <a:srgbClr val="545E72"/>
      </a:dk2>
      <a:lt2>
        <a:srgbClr val="E1E3E8"/>
      </a:lt2>
      <a:accent1>
        <a:srgbClr val="2E5BA8"/>
      </a:accent1>
      <a:accent2>
        <a:srgbClr val="F0A04B"/>
      </a:accent2>
      <a:accent3>
        <a:srgbClr val="5A3A12"/>
      </a:accent3>
      <a:accent4>
        <a:srgbClr val="2E6FD8"/>
      </a:accent4>
      <a:accent5>
        <a:srgbClr val="8FB8FF"/>
      </a:accent5>
      <a:accent6>
        <a:srgbClr val="9A5B12"/>
      </a:accent6>
      <a:hlink>
        <a:srgbClr val="0563C1"/>
      </a:hlink>
      <a:folHlink>
        <a:srgbClr val="954F72"/>
      </a:folHlink>
    </a:clrScheme>
    <a:fontScheme name="부산 도시철도 수요 및 혼잡도 예측을 위한 딥러닝 기반 XAI 모델 개발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1646</Words>
  <Application>Microsoft Office PowerPoint</Application>
  <PresentationFormat>와이드스크린</PresentationFormat>
  <Paragraphs>198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Noto Sans KR</vt:lpstr>
      <vt:lpstr>맑은 고딕</vt:lpstr>
      <vt:lpstr>Arial</vt:lpstr>
      <vt:lpstr>부산 도시철도 수요 및 혼잡도 예측을 위한 딥러닝 기반 XAI 모델 개발</vt:lpstr>
      <vt:lpstr>부산 도시철도 수요 및 혼잡도 예측을 위한 딥러닝 기반 XAI 모델 개발</vt:lpstr>
      <vt:lpstr>연구 배경과 목적</vt:lpstr>
      <vt:lpstr>데이터 분할과 예측 target</vt:lpstr>
      <vt:lpstr>입력 변수: DNN 정적 변수 21개 + LSTM 시계열</vt:lpstr>
      <vt:lpstr>LSTM-DNN architecture</vt:lpstr>
      <vt:lpstr>XAI 방법의 정의</vt:lpstr>
      <vt:lpstr>2025 Test: LSTM-DNN이 비교 모형 중 오차가 가장 낮다</vt:lpstr>
      <vt:lpstr>두 XAI 방법 모두 달력 효과를 최상위로 꼽는다</vt:lpstr>
      <vt:lpstr>LSTM과 DNN branch는 상호보완적으로 작동한다</vt:lpstr>
      <vt:lpstr>2026 Prediction과 결론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부산 도시철도 수요 및 혼잡도 예측을 위한 딥러닝 기반 XAI 모델 개발</dc:title>
  <dc:subject/>
  <dc:creator/>
  <cp:lastModifiedBy>PKNU</cp:lastModifiedBy>
  <cp:revision>4</cp:revision>
  <dcterms:created xsi:type="dcterms:W3CDTF">2026-10-19T01:44:16Z</dcterms:created>
  <dcterms:modified xsi:type="dcterms:W3CDTF">2026-10-19T08:52:49Z</dcterms:modified>
</cp:coreProperties>
</file>